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1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2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C4C31-944E-475A-B1FE-DBEDB1FE9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F27C37-5A6F-4D98-8D61-4DBBAF45D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1EA59E-CE8A-4A89-B8E9-D44A4C8C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E31C8-E78A-423E-BC12-A8EA81FB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5A6517-9166-4A9D-B199-CF8010BC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66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AEB56-F4DE-401D-BD9A-99B3E292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8EC68-0FA5-4211-83AB-8F0AD7287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E94532-E9B3-4CB4-AEDF-C5B6C139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ACCDE5-57CE-4C09-A7E4-B8DFCD22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6FD087-4511-48DE-A511-651E6FC1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5145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1397C-B6C0-4D6A-A75D-CDAD4C91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1FE3B3-7DCD-4CD3-9107-EA98C6F3D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F62F7F-82A6-49F4-89A4-1BDD3DE9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266D0F-18BD-4C71-B1FC-EC01E7B5C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1DD95B-A8B4-4314-B968-B0E02CD3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650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59EEE-FA6F-4061-A31A-3BEE207C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15365-DA85-4E73-AB9E-CD0BA5D3D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8B7076-EA84-4E2C-B666-8018C3331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85E600-A320-443E-A801-5DE8D83F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815230-38DD-4678-B5AC-05A95830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4A37EB-96D6-4468-A5C9-5D177CBF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594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C2E67-CE9C-4F37-AD18-BE4C0369E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7EB5D1-C120-4996-A987-11F07BCAD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FF3473-FBBC-4089-A0CA-8E409A484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CBE79B-82CC-4BA4-AF7E-431FDB3F7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10E63C-D866-4526-8A28-B82BF7651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C692D2-05CB-403E-A3F3-9B5B9B73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FE1F19-FDF0-424D-A218-BB0EE094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C14D77-39B4-46FC-A15C-4133BBDB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397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0E7CB-C23F-48DD-A4EB-E9C4A46CA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C93302-8F0A-4AE0-AA5E-A2E88B59F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7B1891-209A-4296-A9D9-B019A368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7AB91D-A580-4F79-A399-4F632DC8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6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E3A7D97-31BA-4516-A579-BEF0545E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5C024C-0E16-4056-BDE7-99F5C105C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42861D-77EB-4E4E-AB39-39D2E821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23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FA120-308B-40EF-8008-A6CBC9A47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F4C6AB-65E3-46D1-96C4-F8FFF1A74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4EF53C-B6D7-4E50-9176-48557049D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DE681B-5298-4602-9EBB-745104B3F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B5D52D-12DA-48C7-93DB-DB40E3F2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8681BB-E864-43F2-8584-8E2C17BB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39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37D6C-3747-41B6-9288-C427E9C0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54B5BA-5976-46F7-8E4C-35AA8B996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06834C-144F-4709-A641-ABFFE3D71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E0A832-BE19-4275-BB52-19BF234D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B0B71D-6D22-48A8-AAB1-E8D87CB9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0F63A9-CF89-4DFD-A045-36CAF5A3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836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731B8-C2DE-4740-851B-EC076515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C2F28F-76FF-4276-9756-691C7120D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F9B02-BD35-45FA-8BBC-745EE6F7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66077-35CC-4772-A86C-E4F918D8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C8203C-21CC-485F-9BE2-43955C6C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786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256FE7-DF39-4E71-8C9E-D4BC7EBD0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BF167B-565E-4F0D-9379-E19D31E9E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6559B-0370-4F76-BE12-03DEEC9BA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87B34-ABC6-49C9-97E4-4C6FC677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FF10F-18EC-4975-B1CC-2975EEA6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94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DA4724-1397-45A7-B645-69DCF07F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47B50D-1A15-4BFE-A835-09E6138F8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57E49E-6313-47A4-8D17-8C96B0E9A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24CEE-EA10-4228-943F-ED2A61F41566}" type="datetimeFigureOut">
              <a:rPr lang="es-ES" smtClean="0"/>
              <a:t>25/9/20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355008-3649-4D0C-88E6-6A65A3FFF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5FEC9-566B-4F57-8690-6029C4E36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F3CF6-9D5F-4778-B55F-58200ABDFC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9153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9.jpeg"/><Relationship Id="rId5" Type="http://schemas.openxmlformats.org/officeDocument/2006/relationships/image" Target="../media/image5.png"/><Relationship Id="rId1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3.png"/><Relationship Id="rId7" Type="http://schemas.openxmlformats.org/officeDocument/2006/relationships/image" Target="../media/image1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7.gif"/><Relationship Id="rId4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6.jpeg"/><Relationship Id="rId5" Type="http://schemas.openxmlformats.org/officeDocument/2006/relationships/image" Target="../media/image17.gif"/><Relationship Id="rId10" Type="http://schemas.openxmlformats.org/officeDocument/2006/relationships/image" Target="../media/image15.jpeg"/><Relationship Id="rId4" Type="http://schemas.openxmlformats.org/officeDocument/2006/relationships/image" Target="../media/image2.png"/><Relationship Id="rId9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.gif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4.png"/><Relationship Id="rId5" Type="http://schemas.openxmlformats.org/officeDocument/2006/relationships/image" Target="../media/image26.png"/><Relationship Id="rId10" Type="http://schemas.openxmlformats.org/officeDocument/2006/relationships/image" Target="../media/image17.gif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7.gif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E2EDA3-2DF4-4DAE-B1BE-A6AA37EA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6852"/>
            <a:ext cx="5909927" cy="3209511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469F3BE-7AC2-4348-98EF-0DD5DE83A24D}"/>
              </a:ext>
            </a:extLst>
          </p:cNvPr>
          <p:cNvCxnSpPr>
            <a:cxnSpLocks/>
          </p:cNvCxnSpPr>
          <p:nvPr/>
        </p:nvCxnSpPr>
        <p:spPr>
          <a:xfrm>
            <a:off x="5823284" y="2617304"/>
            <a:ext cx="0" cy="2256537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839">
            <a:extLst>
              <a:ext uri="{FF2B5EF4-FFF2-40B4-BE49-F238E27FC236}">
                <a16:creationId xmlns:a16="http://schemas.microsoft.com/office/drawing/2014/main" id="{497519C9-D2F8-40B0-95EC-E7B56C55F3CF}"/>
              </a:ext>
            </a:extLst>
          </p:cNvPr>
          <p:cNvSpPr/>
          <p:nvPr/>
        </p:nvSpPr>
        <p:spPr>
          <a:xfrm>
            <a:off x="5909927" y="3170519"/>
            <a:ext cx="506286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>
              <a:defRPr sz="24000">
                <a:solidFill>
                  <a:srgbClr val="FF9225"/>
                </a:solidFill>
                <a:latin typeface="Tahoma Negreta"/>
                <a:ea typeface="Tahoma Negreta"/>
                <a:cs typeface="Tahoma Negreta"/>
                <a:sym typeface="Tahoma Negreta"/>
              </a:defRPr>
            </a:lvl1pPr>
          </a:lstStyle>
          <a:p>
            <a:pPr>
              <a:defRPr sz="1800">
                <a:solidFill>
                  <a:srgbClr val="000000"/>
                </a:solidFill>
              </a:defRPr>
            </a:pPr>
            <a:r>
              <a:rPr lang="es-ES" sz="4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CORRUPCION Y LAVADO DE ACTIVOS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8F7478-8E15-49E2-8536-C091F629ED01}"/>
              </a:ext>
            </a:extLst>
          </p:cNvPr>
          <p:cNvSpPr/>
          <p:nvPr/>
        </p:nvSpPr>
        <p:spPr>
          <a:xfrm>
            <a:off x="9206146" y="4616389"/>
            <a:ext cx="1633492" cy="177553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532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C0385B0-C9BB-499B-A00A-C3074C0C8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7" y="446131"/>
            <a:ext cx="2877887" cy="75350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28C26A3-85FB-431E-8863-5D0D6FE32C65}"/>
              </a:ext>
            </a:extLst>
          </p:cNvPr>
          <p:cNvSpPr txBox="1"/>
          <p:nvPr/>
        </p:nvSpPr>
        <p:spPr>
          <a:xfrm>
            <a:off x="4229540" y="855067"/>
            <a:ext cx="1458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Matriz de Riesgo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B9C091-68B2-4AFC-B67B-878EA3D6B9ED}"/>
              </a:ext>
            </a:extLst>
          </p:cNvPr>
          <p:cNvSpPr txBox="1"/>
          <p:nvPr/>
        </p:nvSpPr>
        <p:spPr>
          <a:xfrm>
            <a:off x="5440874" y="855067"/>
            <a:ext cx="1838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Scoring de Riesgo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0EE7A5-8940-4788-90D4-4573F6289402}"/>
              </a:ext>
            </a:extLst>
          </p:cNvPr>
          <p:cNvSpPr txBox="1"/>
          <p:nvPr/>
        </p:nvSpPr>
        <p:spPr>
          <a:xfrm>
            <a:off x="6799231" y="843450"/>
            <a:ext cx="212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Registro de Operaciones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7B74D55-5F1B-4AAD-AA24-B8C4DB0DAE98}"/>
              </a:ext>
            </a:extLst>
          </p:cNvPr>
          <p:cNvSpPr txBox="1"/>
          <p:nvPr/>
        </p:nvSpPr>
        <p:spPr>
          <a:xfrm>
            <a:off x="8542239" y="822886"/>
            <a:ext cx="1605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Canal de Denuncia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607B1E3-0AD9-4C2F-B1B7-A67128B90D31}"/>
              </a:ext>
            </a:extLst>
          </p:cNvPr>
          <p:cNvSpPr txBox="1"/>
          <p:nvPr/>
        </p:nvSpPr>
        <p:spPr>
          <a:xfrm>
            <a:off x="10033661" y="822886"/>
            <a:ext cx="104416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Iniciar Sesión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B62058D-C310-4B90-A508-B561786EAFBA}"/>
              </a:ext>
            </a:extLst>
          </p:cNvPr>
          <p:cNvCxnSpPr/>
          <p:nvPr/>
        </p:nvCxnSpPr>
        <p:spPr>
          <a:xfrm>
            <a:off x="5475247" y="913361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48DC5DB4-2108-4A6A-9D37-D3734666C571}"/>
              </a:ext>
            </a:extLst>
          </p:cNvPr>
          <p:cNvCxnSpPr/>
          <p:nvPr/>
        </p:nvCxnSpPr>
        <p:spPr>
          <a:xfrm>
            <a:off x="6781818" y="914534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5D74A72-B80F-44EB-BF97-852D9E4F4CAE}"/>
              </a:ext>
            </a:extLst>
          </p:cNvPr>
          <p:cNvCxnSpPr/>
          <p:nvPr/>
        </p:nvCxnSpPr>
        <p:spPr>
          <a:xfrm>
            <a:off x="8542239" y="913361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E1BD10E-F28D-4115-BF4D-9695D838B2C5}"/>
              </a:ext>
            </a:extLst>
          </p:cNvPr>
          <p:cNvCxnSpPr/>
          <p:nvPr/>
        </p:nvCxnSpPr>
        <p:spPr>
          <a:xfrm>
            <a:off x="9937414" y="901744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0E4CB51-B5F1-47FC-898C-8A98F38952E3}"/>
              </a:ext>
            </a:extLst>
          </p:cNvPr>
          <p:cNvCxnSpPr/>
          <p:nvPr/>
        </p:nvCxnSpPr>
        <p:spPr>
          <a:xfrm>
            <a:off x="4294514" y="1162362"/>
            <a:ext cx="1069469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77C9CF07-6500-4ACA-A8A6-1635C4BF0B2C}"/>
              </a:ext>
            </a:extLst>
          </p:cNvPr>
          <p:cNvGrpSpPr/>
          <p:nvPr/>
        </p:nvGrpSpPr>
        <p:grpSpPr>
          <a:xfrm>
            <a:off x="1226962" y="2174705"/>
            <a:ext cx="5294808" cy="3502851"/>
            <a:chOff x="1239157" y="1111502"/>
            <a:chExt cx="10109683" cy="5834848"/>
          </a:xfrm>
        </p:grpSpPr>
        <p:pic>
          <p:nvPicPr>
            <p:cNvPr id="1026" name="Picture 2" descr="Innova grc: software de gestión de riesgos y Compliance">
              <a:extLst>
                <a:ext uri="{FF2B5EF4-FFF2-40B4-BE49-F238E27FC236}">
                  <a16:creationId xmlns:a16="http://schemas.microsoft.com/office/drawing/2014/main" id="{B3970BD4-21BF-4B96-A1FE-1E3FED2E0A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9157" y="1111502"/>
              <a:ext cx="10109683" cy="58348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AF5014EF-EF18-4E48-8FF0-5E90B12C1624}"/>
                </a:ext>
              </a:extLst>
            </p:cNvPr>
            <p:cNvSpPr/>
            <p:nvPr/>
          </p:nvSpPr>
          <p:spPr>
            <a:xfrm>
              <a:off x="2496449" y="1501094"/>
              <a:ext cx="7650798" cy="496382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D2D6BD27-8373-4A64-BF7D-B79952639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0603" y="1572457"/>
              <a:ext cx="630523" cy="381675"/>
            </a:xfrm>
            <a:prstGeom prst="rect">
              <a:avLst/>
            </a:prstGeom>
          </p:spPr>
        </p:pic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C374102-9DCE-4369-93EA-D083933B91D3}"/>
              </a:ext>
            </a:extLst>
          </p:cNvPr>
          <p:cNvSpPr txBox="1"/>
          <p:nvPr/>
        </p:nvSpPr>
        <p:spPr>
          <a:xfrm>
            <a:off x="6960092" y="2267251"/>
            <a:ext cx="4270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b="0" i="0" dirty="0">
                <a:solidFill>
                  <a:srgbClr val="63666A"/>
                </a:solidFill>
                <a:effectLst/>
              </a:rPr>
              <a:t>La matriz de riesgos es una herramienta útil que permite identificar los riesgos a los que está expuesta la empresa. De esa </a:t>
            </a:r>
            <a:r>
              <a:rPr lang="es-ES" sz="1200" dirty="0">
                <a:solidFill>
                  <a:srgbClr val="63666A"/>
                </a:solidFill>
              </a:rPr>
              <a:t>manera</a:t>
            </a:r>
            <a:r>
              <a:rPr lang="es-ES" sz="1200" b="0" i="0" dirty="0">
                <a:solidFill>
                  <a:srgbClr val="63666A"/>
                </a:solidFill>
                <a:effectLst/>
              </a:rPr>
              <a:t>, las </a:t>
            </a:r>
            <a:r>
              <a:rPr lang="es-ES" sz="1200" dirty="0">
                <a:solidFill>
                  <a:srgbClr val="63666A"/>
                </a:solidFill>
              </a:rPr>
              <a:t>empresas determinarán </a:t>
            </a:r>
            <a:r>
              <a:rPr lang="es-ES" sz="1200" b="0" i="0" dirty="0">
                <a:solidFill>
                  <a:srgbClr val="63666A"/>
                </a:solidFill>
                <a:effectLst/>
              </a:rPr>
              <a:t>los niveles de riesgos, así como establecer </a:t>
            </a:r>
            <a:r>
              <a:rPr lang="es-ES" sz="1200" dirty="0">
                <a:solidFill>
                  <a:srgbClr val="63666A"/>
                </a:solidFill>
              </a:rPr>
              <a:t>c</a:t>
            </a:r>
            <a:r>
              <a:rPr lang="es-ES" sz="1200" b="0" i="0" dirty="0">
                <a:solidFill>
                  <a:srgbClr val="63666A"/>
                </a:solidFill>
                <a:effectLst/>
              </a:rPr>
              <a:t>ontroles y monitorear la efectividad del método de control elegido para otorgar seguridad a la compañía.</a:t>
            </a:r>
            <a:endParaRPr lang="es-ES" sz="12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3CE082F-9F12-4F0B-B686-4A195D97EFC9}"/>
              </a:ext>
            </a:extLst>
          </p:cNvPr>
          <p:cNvSpPr txBox="1"/>
          <p:nvPr/>
        </p:nvSpPr>
        <p:spPr>
          <a:xfrm>
            <a:off x="6960092" y="1855433"/>
            <a:ext cx="230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92D050"/>
                </a:solidFill>
              </a:rPr>
              <a:t>Matriz de Riesgo</a:t>
            </a:r>
          </a:p>
        </p:txBody>
      </p:sp>
      <p:pic>
        <p:nvPicPr>
          <p:cNvPr id="33" name="Picture 2" descr="Call center icon from Business Bicolor Set Vector Image">
            <a:extLst>
              <a:ext uri="{FF2B5EF4-FFF2-40B4-BE49-F238E27FC236}">
                <a16:creationId xmlns:a16="http://schemas.microsoft.com/office/drawing/2014/main" id="{CEE5B153-98B4-4830-9431-E746BFFBDF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243"/>
          <a:stretch/>
        </p:blipFill>
        <p:spPr bwMode="auto">
          <a:xfrm>
            <a:off x="7176442" y="4156111"/>
            <a:ext cx="544256" cy="6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SPEED – Nigeria Entrepreneurs Forum">
            <a:extLst>
              <a:ext uri="{FF2B5EF4-FFF2-40B4-BE49-F238E27FC236}">
                <a16:creationId xmlns:a16="http://schemas.microsoft.com/office/drawing/2014/main" id="{EF1F27AD-BEF5-4000-8283-FEE430C1A9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9" t="9680" r="15116" b="8221"/>
          <a:stretch/>
        </p:blipFill>
        <p:spPr bwMode="auto">
          <a:xfrm>
            <a:off x="9477964" y="4114112"/>
            <a:ext cx="699483" cy="81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B4898DF5-63BF-4A2F-B804-CD00C3333940}"/>
              </a:ext>
            </a:extLst>
          </p:cNvPr>
          <p:cNvSpPr/>
          <p:nvPr/>
        </p:nvSpPr>
        <p:spPr>
          <a:xfrm>
            <a:off x="6510529" y="3698513"/>
            <a:ext cx="2157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rgbClr val="92D050"/>
                </a:solidFill>
                <a:cs typeface="Arial" panose="020B0604020202020204" pitchFamily="34" charset="0"/>
              </a:rPr>
              <a:t>Ventajas </a:t>
            </a:r>
          </a:p>
        </p:txBody>
      </p:sp>
      <p:pic>
        <p:nvPicPr>
          <p:cNvPr id="39" name="Picture 28" descr="Icon Size Contract PNG Transparent Background, Free Download #19926 -  FreeIconsPNG">
            <a:extLst>
              <a:ext uri="{FF2B5EF4-FFF2-40B4-BE49-F238E27FC236}">
                <a16:creationId xmlns:a16="http://schemas.microsoft.com/office/drawing/2014/main" id="{542061E7-7FCE-472C-93BD-8230E1162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115" y="4181372"/>
            <a:ext cx="654463" cy="65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4" descr="VMware Horizon Client on the App Store">
            <a:extLst>
              <a:ext uri="{FF2B5EF4-FFF2-40B4-BE49-F238E27FC236}">
                <a16:creationId xmlns:a16="http://schemas.microsoft.com/office/drawing/2014/main" id="{8C63E3F1-42B5-4EDC-84A3-82F9B7EA3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57317" y1="63821" x2="57317" y2="63821"/>
                        <a14:foregroundMark x1="20732" y1="60976" x2="20732" y2="60976"/>
                        <a14:foregroundMark x1="29675" y1="47154" x2="29675" y2="47154"/>
                        <a14:foregroundMark x1="32927" y1="41463" x2="54065" y2="37805"/>
                        <a14:foregroundMark x1="54065" y1="37805" x2="59756" y2="39837"/>
                        <a14:foregroundMark x1="38618" y1="37398" x2="60163" y2="40244"/>
                        <a14:foregroundMark x1="60163" y1="40244" x2="67886" y2="55691"/>
                        <a14:foregroundMark x1="76423" y1="54065" x2="63415" y2="36585"/>
                        <a14:foregroundMark x1="63415" y1="36585" x2="44309" y2="39431"/>
                        <a14:foregroundMark x1="45528" y1="35772" x2="47561" y2="31301"/>
                        <a14:foregroundMark x1="32520" y1="40650" x2="26016" y2="49593"/>
                        <a14:foregroundMark x1="44309" y1="44309" x2="45528" y2="49187"/>
                        <a14:foregroundMark x1="28862" y1="44309" x2="23984" y2="50813"/>
                        <a14:foregroundMark x1="20732" y1="48374" x2="21138" y2="50813"/>
                        <a14:foregroundMark x1="17886" y1="50407" x2="17073" y2="54878"/>
                        <a14:foregroundMark x1="17073" y1="62602" x2="19106" y2="63415"/>
                        <a14:foregroundMark x1="31707" y1="72764" x2="36992" y2="72358"/>
                        <a14:foregroundMark x1="58537" y1="82520" x2="53659" y2="82114"/>
                        <a14:foregroundMark x1="47154" y1="81301" x2="41870" y2="80488"/>
                        <a14:foregroundMark x1="39431" y1="73171" x2="50000" y2="73171"/>
                        <a14:foregroundMark x1="52033" y1="72764" x2="51626" y2="75203"/>
                        <a14:foregroundMark x1="57724" y1="73171" x2="52033" y2="73171"/>
                        <a14:foregroundMark x1="59350" y1="72764" x2="62602" y2="72764"/>
                        <a14:foregroundMark x1="65447" y1="72358" x2="60569" y2="73984"/>
                        <a14:foregroundMark x1="73577" y1="39837" x2="79268" y2="48374"/>
                        <a14:foregroundMark x1="27236" y1="71951" x2="35366" y2="75610"/>
                        <a14:foregroundMark x1="25610" y1="73171" x2="35366" y2="77642"/>
                        <a14:foregroundMark x1="24797" y1="71138" x2="24390" y2="72764"/>
                        <a14:foregroundMark x1="21951" y1="71138" x2="22764" y2="71951"/>
                        <a14:foregroundMark x1="32520" y1="77236" x2="32927" y2="78049"/>
                        <a14:foregroundMark x1="68699" y1="72764" x2="65854" y2="73171"/>
                        <a14:foregroundMark x1="74797" y1="71951" x2="62195" y2="77642"/>
                        <a14:foregroundMark x1="78455" y1="71138" x2="60976" y2="79675"/>
                        <a14:foregroundMark x1="74797" y1="72764" x2="32114" y2="69919"/>
                        <a14:foregroundMark x1="39431" y1="79675" x2="38618" y2="83740"/>
                        <a14:foregroundMark x1="23577" y1="56504" x2="23577" y2="56504"/>
                        <a14:foregroundMark x1="19512" y1="57724" x2="19512" y2="57724"/>
                        <a14:foregroundMark x1="13821" y1="58537" x2="13821" y2="58537"/>
                        <a14:foregroundMark x1="17886" y1="56504" x2="17886" y2="56504"/>
                        <a14:foregroundMark x1="14228" y1="58943" x2="14228" y2="58943"/>
                        <a14:foregroundMark x1="13821" y1="56911" x2="13821" y2="56911"/>
                        <a14:foregroundMark x1="15447" y1="56504" x2="15447" y2="56504"/>
                        <a14:foregroundMark x1="15041" y1="57724" x2="17073" y2="57724"/>
                        <a14:foregroundMark x1="15041" y1="56504" x2="15854" y2="57724"/>
                        <a14:foregroundMark x1="14634" y1="57317" x2="17886" y2="58130"/>
                        <a14:foregroundMark x1="15447" y1="58130" x2="14634" y2="56504"/>
                        <a14:backgroundMark x1="15041" y1="55285" x2="15041" y2="565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972" y="5024141"/>
            <a:ext cx="629346" cy="62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Green Grass Background 772*772 transprent Png Free Download - Green,  Yellow, Line. - CleanPNG / KissPNG">
            <a:extLst>
              <a:ext uri="{FF2B5EF4-FFF2-40B4-BE49-F238E27FC236}">
                <a16:creationId xmlns:a16="http://schemas.microsoft.com/office/drawing/2014/main" id="{1A9E0E8B-02DD-47F3-9120-D5F948876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668" y="5058616"/>
            <a:ext cx="618940" cy="6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6" descr="Landing Page Start-Up Animated (EN)">
            <a:extLst>
              <a:ext uri="{FF2B5EF4-FFF2-40B4-BE49-F238E27FC236}">
                <a16:creationId xmlns:a16="http://schemas.microsoft.com/office/drawing/2014/main" id="{D53F2359-1DFD-424A-ABE5-CBECFEAFA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506" y="5089916"/>
            <a:ext cx="535856" cy="53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465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2E74081-55DF-4BA5-AAC8-7DA01289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36" y="586408"/>
            <a:ext cx="2877887" cy="75350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F1E871F-71D5-4B70-93DC-088EF074A0A8}"/>
              </a:ext>
            </a:extLst>
          </p:cNvPr>
          <p:cNvSpPr txBox="1"/>
          <p:nvPr/>
        </p:nvSpPr>
        <p:spPr>
          <a:xfrm>
            <a:off x="4229540" y="855067"/>
            <a:ext cx="1458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Matriz de Riesgo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7F2DBE-5A7B-4BCE-83CB-7E2678889104}"/>
              </a:ext>
            </a:extLst>
          </p:cNvPr>
          <p:cNvSpPr txBox="1"/>
          <p:nvPr/>
        </p:nvSpPr>
        <p:spPr>
          <a:xfrm>
            <a:off x="5440874" y="855067"/>
            <a:ext cx="1838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Scoring de Riesgo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960C20-7BDB-4B60-9BF6-4A678673298E}"/>
              </a:ext>
            </a:extLst>
          </p:cNvPr>
          <p:cNvSpPr txBox="1"/>
          <p:nvPr/>
        </p:nvSpPr>
        <p:spPr>
          <a:xfrm>
            <a:off x="6799231" y="843450"/>
            <a:ext cx="212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Registro de Operaciones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FA6DD2D-167B-43F4-9531-C53BE736C838}"/>
              </a:ext>
            </a:extLst>
          </p:cNvPr>
          <p:cNvSpPr txBox="1"/>
          <p:nvPr/>
        </p:nvSpPr>
        <p:spPr>
          <a:xfrm>
            <a:off x="8542239" y="822886"/>
            <a:ext cx="1605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Canal de Denuncia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79C93CE-736B-4DAF-82B9-6C0B5A0D34F3}"/>
              </a:ext>
            </a:extLst>
          </p:cNvPr>
          <p:cNvSpPr txBox="1"/>
          <p:nvPr/>
        </p:nvSpPr>
        <p:spPr>
          <a:xfrm>
            <a:off x="10033661" y="822886"/>
            <a:ext cx="104416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92D050"/>
                </a:solidFill>
              </a:rPr>
              <a:t>Iniciar Sesión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811FAC7-6355-4335-888A-EA154067DADB}"/>
              </a:ext>
            </a:extLst>
          </p:cNvPr>
          <p:cNvCxnSpPr/>
          <p:nvPr/>
        </p:nvCxnSpPr>
        <p:spPr>
          <a:xfrm>
            <a:off x="5475247" y="913361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73CED1F1-CF5D-4091-8B5D-917D2780DAF5}"/>
              </a:ext>
            </a:extLst>
          </p:cNvPr>
          <p:cNvCxnSpPr/>
          <p:nvPr/>
        </p:nvCxnSpPr>
        <p:spPr>
          <a:xfrm>
            <a:off x="6781818" y="914534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9EC0E22-372E-48BF-972C-D8D142030182}"/>
              </a:ext>
            </a:extLst>
          </p:cNvPr>
          <p:cNvCxnSpPr/>
          <p:nvPr/>
        </p:nvCxnSpPr>
        <p:spPr>
          <a:xfrm>
            <a:off x="8542239" y="913361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1D26000-E2B5-4E16-BB8D-8BB0C63FD9D2}"/>
              </a:ext>
            </a:extLst>
          </p:cNvPr>
          <p:cNvCxnSpPr/>
          <p:nvPr/>
        </p:nvCxnSpPr>
        <p:spPr>
          <a:xfrm>
            <a:off x="9937414" y="901744"/>
            <a:ext cx="0" cy="160409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406144F-BE42-4927-97BC-CDDDD85C4963}"/>
              </a:ext>
            </a:extLst>
          </p:cNvPr>
          <p:cNvCxnSpPr/>
          <p:nvPr/>
        </p:nvCxnSpPr>
        <p:spPr>
          <a:xfrm>
            <a:off x="5569939" y="1180116"/>
            <a:ext cx="1069469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B3F301C-377D-436F-9298-B9A3EBC2E92C}"/>
              </a:ext>
            </a:extLst>
          </p:cNvPr>
          <p:cNvSpPr txBox="1"/>
          <p:nvPr/>
        </p:nvSpPr>
        <p:spPr>
          <a:xfrm>
            <a:off x="1154880" y="2586847"/>
            <a:ext cx="4270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b="0" i="0" dirty="0">
                <a:solidFill>
                  <a:srgbClr val="63666A"/>
                </a:solidFill>
                <a:effectLst/>
              </a:rPr>
              <a:t>El </a:t>
            </a:r>
            <a:r>
              <a:rPr lang="es-ES" sz="1200" b="0" i="0" dirty="0" err="1">
                <a:solidFill>
                  <a:srgbClr val="63666A"/>
                </a:solidFill>
                <a:effectLst/>
              </a:rPr>
              <a:t>scoring</a:t>
            </a:r>
            <a:r>
              <a:rPr lang="es-ES" sz="1200" b="0" i="0" dirty="0">
                <a:solidFill>
                  <a:srgbClr val="63666A"/>
                </a:solidFill>
                <a:effectLst/>
              </a:rPr>
              <a:t> o calificación de riesgos es una herramienta que realizará la evaluación automática sobre los niveles de riesgos expuestos de los clientes, proveedores y trabajadores de una empresa. De acuerdo al resultado obtenido, se tomará la decisión para aceptar o rechazar a un cliente, proveedor o trabajador a fin de mitigar riesgos de corrupción y lavado de activos.</a:t>
            </a:r>
            <a:endParaRPr lang="es-ES" sz="12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469913-F405-427D-B912-CB715A5680A3}"/>
              </a:ext>
            </a:extLst>
          </p:cNvPr>
          <p:cNvSpPr txBox="1"/>
          <p:nvPr/>
        </p:nvSpPr>
        <p:spPr>
          <a:xfrm>
            <a:off x="1154880" y="2175029"/>
            <a:ext cx="2302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rgbClr val="92D050"/>
                </a:solidFill>
              </a:rPr>
              <a:t>Scoring de Riesgo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D1A1B69-B03E-45F2-ABA1-2F04E064AA20}"/>
              </a:ext>
            </a:extLst>
          </p:cNvPr>
          <p:cNvGrpSpPr/>
          <p:nvPr/>
        </p:nvGrpSpPr>
        <p:grpSpPr>
          <a:xfrm>
            <a:off x="6209322" y="2106408"/>
            <a:ext cx="5294808" cy="3502851"/>
            <a:chOff x="6209322" y="2106408"/>
            <a:chExt cx="5294808" cy="3502851"/>
          </a:xfrm>
        </p:grpSpPr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D127C7CD-44CF-4B4B-A664-0A5600683C3B}"/>
                </a:ext>
              </a:extLst>
            </p:cNvPr>
            <p:cNvGrpSpPr/>
            <p:nvPr/>
          </p:nvGrpSpPr>
          <p:grpSpPr>
            <a:xfrm>
              <a:off x="6209322" y="2106408"/>
              <a:ext cx="5294808" cy="3502851"/>
              <a:chOff x="1239157" y="1111502"/>
              <a:chExt cx="10109683" cy="5834848"/>
            </a:xfrm>
          </p:grpSpPr>
          <p:pic>
            <p:nvPicPr>
              <p:cNvPr id="16" name="Picture 2" descr="Innova grc: software de gestión de riesgos y Compliance">
                <a:extLst>
                  <a:ext uri="{FF2B5EF4-FFF2-40B4-BE49-F238E27FC236}">
                    <a16:creationId xmlns:a16="http://schemas.microsoft.com/office/drawing/2014/main" id="{F69F6559-E07D-4D92-8625-18872568DB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9157" y="1111502"/>
                <a:ext cx="10109683" cy="58348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7D908CD4-E055-4D7C-B9D4-DF47F5BB723F}"/>
                  </a:ext>
                </a:extLst>
              </p:cNvPr>
              <p:cNvSpPr/>
              <p:nvPr/>
            </p:nvSpPr>
            <p:spPr>
              <a:xfrm>
                <a:off x="2496449" y="1501094"/>
                <a:ext cx="7650798" cy="496382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42EA3FD3-9F23-4E21-A4F4-B3B4913DEE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603" y="1572457"/>
                <a:ext cx="630523" cy="381675"/>
              </a:xfrm>
              <a:prstGeom prst="rect">
                <a:avLst/>
              </a:prstGeom>
            </p:spPr>
          </p:pic>
        </p:grpSp>
        <p:pic>
          <p:nvPicPr>
            <p:cNvPr id="2050" name="Picture 2" descr="FICO® Score : Círculo de Crédito">
              <a:extLst>
                <a:ext uri="{FF2B5EF4-FFF2-40B4-BE49-F238E27FC236}">
                  <a16:creationId xmlns:a16="http://schemas.microsoft.com/office/drawing/2014/main" id="{08459714-BD9B-4F4F-A49A-720590DFE0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444"/>
            <a:stretch/>
          </p:blipFill>
          <p:spPr bwMode="auto">
            <a:xfrm>
              <a:off x="6867810" y="2638288"/>
              <a:ext cx="4007001" cy="2564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900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E0B37-492E-4F47-8402-AA016991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105" y="2193925"/>
            <a:ext cx="8314678" cy="1325563"/>
          </a:xfrm>
        </p:spPr>
        <p:txBody>
          <a:bodyPr/>
          <a:lstStyle/>
          <a:p>
            <a:r>
              <a:rPr lang="es-ES" dirty="0"/>
              <a:t>Plantilla de las presentaciones</a:t>
            </a:r>
          </a:p>
        </p:txBody>
      </p:sp>
    </p:spTree>
    <p:extLst>
      <p:ext uri="{BB962C8B-B14F-4D97-AF65-F5344CB8AC3E}">
        <p14:creationId xmlns:p14="http://schemas.microsoft.com/office/powerpoint/2010/main" val="128262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" name="Grupo 1035">
            <a:extLst>
              <a:ext uri="{FF2B5EF4-FFF2-40B4-BE49-F238E27FC236}">
                <a16:creationId xmlns:a16="http://schemas.microsoft.com/office/drawing/2014/main" id="{E7442831-0A2F-4F4B-A74D-3A9229F2F0C3}"/>
              </a:ext>
            </a:extLst>
          </p:cNvPr>
          <p:cNvGrpSpPr/>
          <p:nvPr/>
        </p:nvGrpSpPr>
        <p:grpSpPr>
          <a:xfrm>
            <a:off x="0" y="76198"/>
            <a:ext cx="12192000" cy="6604002"/>
            <a:chOff x="63813" y="-167159"/>
            <a:chExt cx="12112101" cy="6858000"/>
          </a:xfrm>
        </p:grpSpPr>
        <p:grpSp>
          <p:nvGrpSpPr>
            <p:cNvPr id="1030" name="Grupo 1029">
              <a:extLst>
                <a:ext uri="{FF2B5EF4-FFF2-40B4-BE49-F238E27FC236}">
                  <a16:creationId xmlns:a16="http://schemas.microsoft.com/office/drawing/2014/main" id="{FA59BFBE-5C69-4A72-B292-8D4EAEEC9645}"/>
                </a:ext>
              </a:extLst>
            </p:cNvPr>
            <p:cNvGrpSpPr/>
            <p:nvPr/>
          </p:nvGrpSpPr>
          <p:grpSpPr>
            <a:xfrm>
              <a:off x="63813" y="-167159"/>
              <a:ext cx="12112101" cy="6858000"/>
              <a:chOff x="63813" y="10641"/>
              <a:chExt cx="12112101" cy="6858000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1C8711E7-30A6-4140-BD7D-846141D07754}"/>
                  </a:ext>
                </a:extLst>
              </p:cNvPr>
              <p:cNvGrpSpPr/>
              <p:nvPr/>
            </p:nvGrpSpPr>
            <p:grpSpPr>
              <a:xfrm>
                <a:off x="63813" y="10641"/>
                <a:ext cx="12112101" cy="6858000"/>
                <a:chOff x="1361209" y="755710"/>
                <a:chExt cx="10865360" cy="6111766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6D79BD1D-92E8-4EE8-817E-D2CBE80F8D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61209" y="755710"/>
                  <a:ext cx="10865360" cy="6111766"/>
                </a:xfrm>
                <a:prstGeom prst="rect">
                  <a:avLst/>
                </a:prstGeom>
              </p:spPr>
            </p:pic>
            <p:cxnSp>
              <p:nvCxnSpPr>
                <p:cNvPr id="7" name="Conector recto de flecha 6">
                  <a:extLst>
                    <a:ext uri="{FF2B5EF4-FFF2-40B4-BE49-F238E27FC236}">
                      <a16:creationId xmlns:a16="http://schemas.microsoft.com/office/drawing/2014/main" id="{696AA1EB-DA67-4C4A-AD41-A28B1F0E12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30136" y="2654423"/>
                  <a:ext cx="932155" cy="18643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ctor recto de flecha 8">
                  <a:extLst>
                    <a:ext uri="{FF2B5EF4-FFF2-40B4-BE49-F238E27FC236}">
                      <a16:creationId xmlns:a16="http://schemas.microsoft.com/office/drawing/2014/main" id="{F454F53C-48AF-4FC2-A501-E5DE30BA6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30136" y="2840854"/>
                  <a:ext cx="932155" cy="15240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6112710D-8DC2-43AC-B00C-DFD11AF7F4C1}"/>
                    </a:ext>
                  </a:extLst>
                </p:cNvPr>
                <p:cNvSpPr/>
                <p:nvPr/>
              </p:nvSpPr>
              <p:spPr>
                <a:xfrm>
                  <a:off x="1619604" y="2539014"/>
                  <a:ext cx="1150230" cy="454242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200" dirty="0"/>
                    <a:t>Datos para iniciar Sesión</a:t>
                  </a:r>
                </a:p>
              </p:txBody>
            </p: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9E8C5849-861E-4D6B-BDC4-3BFA1F77F5AE}"/>
                    </a:ext>
                  </a:extLst>
                </p:cNvPr>
                <p:cNvSpPr/>
                <p:nvPr/>
              </p:nvSpPr>
              <p:spPr>
                <a:xfrm>
                  <a:off x="1513073" y="3080552"/>
                  <a:ext cx="1363292" cy="221942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000" dirty="0"/>
                    <a:t>Botón para ingresar</a:t>
                  </a:r>
                </a:p>
              </p:txBody>
            </p:sp>
            <p:cxnSp>
              <p:nvCxnSpPr>
                <p:cNvPr id="15" name="Conector recto de flecha 14">
                  <a:extLst>
                    <a:ext uri="{FF2B5EF4-FFF2-40B4-BE49-F238E27FC236}">
                      <a16:creationId xmlns:a16="http://schemas.microsoft.com/office/drawing/2014/main" id="{5A61B8C4-34F6-4702-834C-78140F22FDBD}"/>
                    </a:ext>
                  </a:extLst>
                </p:cNvPr>
                <p:cNvCxnSpPr>
                  <a:cxnSpLocks/>
                  <a:stCxn id="14" idx="3"/>
                </p:cNvCxnSpPr>
                <p:nvPr/>
              </p:nvCxnSpPr>
              <p:spPr>
                <a:xfrm flipV="1">
                  <a:off x="2876365" y="3179687"/>
                  <a:ext cx="585926" cy="1183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Rectángulo 19">
                  <a:extLst>
                    <a:ext uri="{FF2B5EF4-FFF2-40B4-BE49-F238E27FC236}">
                      <a16:creationId xmlns:a16="http://schemas.microsoft.com/office/drawing/2014/main" id="{DCB16D17-9CBE-4B39-B877-55034E61D6F1}"/>
                    </a:ext>
                  </a:extLst>
                </p:cNvPr>
                <p:cNvSpPr/>
                <p:nvPr/>
              </p:nvSpPr>
              <p:spPr>
                <a:xfrm>
                  <a:off x="1513073" y="3428999"/>
                  <a:ext cx="1363292" cy="468297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000" dirty="0"/>
                    <a:t>Opción que nos permita recolectar datos </a:t>
                  </a:r>
                  <a:r>
                    <a:rPr lang="es-ES" sz="1000" dirty="0">
                      <a:solidFill>
                        <a:srgbClr val="FF0000"/>
                      </a:solidFill>
                    </a:rPr>
                    <a:t>(1)</a:t>
                  </a:r>
                </a:p>
              </p:txBody>
            </p:sp>
            <p:cxnSp>
              <p:nvCxnSpPr>
                <p:cNvPr id="21" name="Conector recto de flecha 20">
                  <a:extLst>
                    <a:ext uri="{FF2B5EF4-FFF2-40B4-BE49-F238E27FC236}">
                      <a16:creationId xmlns:a16="http://schemas.microsoft.com/office/drawing/2014/main" id="{C197E793-AFDA-4421-A6AD-E039B9644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76365" y="3555507"/>
                  <a:ext cx="585926" cy="10172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ángulo 22">
                  <a:extLst>
                    <a:ext uri="{FF2B5EF4-FFF2-40B4-BE49-F238E27FC236}">
                      <a16:creationId xmlns:a16="http://schemas.microsoft.com/office/drawing/2014/main" id="{B6815FA7-4E96-480B-9B29-1C2EFC3D711E}"/>
                    </a:ext>
                  </a:extLst>
                </p:cNvPr>
                <p:cNvSpPr/>
                <p:nvPr/>
              </p:nvSpPr>
              <p:spPr>
                <a:xfrm>
                  <a:off x="3249227" y="4021584"/>
                  <a:ext cx="1695635" cy="967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5" name="Rectángulo 24">
                  <a:extLst>
                    <a:ext uri="{FF2B5EF4-FFF2-40B4-BE49-F238E27FC236}">
                      <a16:creationId xmlns:a16="http://schemas.microsoft.com/office/drawing/2014/main" id="{7BE3A45B-1DBF-4A66-8D84-E46CA0DB87BE}"/>
                    </a:ext>
                  </a:extLst>
                </p:cNvPr>
                <p:cNvSpPr/>
                <p:nvPr/>
              </p:nvSpPr>
              <p:spPr>
                <a:xfrm>
                  <a:off x="2487682" y="4334521"/>
                  <a:ext cx="1363292" cy="468297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1000" dirty="0"/>
                    <a:t>Opción que permita recuperar la clave </a:t>
                  </a:r>
                  <a:r>
                    <a:rPr lang="es-ES" sz="1000" dirty="0">
                      <a:solidFill>
                        <a:srgbClr val="FF0000"/>
                      </a:solidFill>
                    </a:rPr>
                    <a:t>(2)</a:t>
                  </a:r>
                </a:p>
              </p:txBody>
            </p:sp>
            <p:cxnSp>
              <p:nvCxnSpPr>
                <p:cNvPr id="26" name="Conector recto de flecha 25">
                  <a:extLst>
                    <a:ext uri="{FF2B5EF4-FFF2-40B4-BE49-F238E27FC236}">
                      <a16:creationId xmlns:a16="http://schemas.microsoft.com/office/drawing/2014/main" id="{372B9241-4607-4B92-B12F-ED7B8DA41F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49227" y="3876768"/>
                  <a:ext cx="683581" cy="44480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Rectángulo 27">
                  <a:extLst>
                    <a:ext uri="{FF2B5EF4-FFF2-40B4-BE49-F238E27FC236}">
                      <a16:creationId xmlns:a16="http://schemas.microsoft.com/office/drawing/2014/main" id="{B2EB5881-41CD-4B43-8D1A-B4522E53A516}"/>
                    </a:ext>
                  </a:extLst>
                </p:cNvPr>
                <p:cNvSpPr/>
                <p:nvPr/>
              </p:nvSpPr>
              <p:spPr>
                <a:xfrm>
                  <a:off x="4944862" y="2482623"/>
                  <a:ext cx="5420131" cy="38027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2448B00C-F2BA-4944-BDFD-71ED33629122}"/>
                    </a:ext>
                  </a:extLst>
                </p:cNvPr>
                <p:cNvSpPr txBox="1"/>
                <p:nvPr/>
              </p:nvSpPr>
              <p:spPr>
                <a:xfrm>
                  <a:off x="5001799" y="2229269"/>
                  <a:ext cx="451725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Soluciones para prevenir la Corrupción y Lavado de Activos</a:t>
                  </a:r>
                </a:p>
              </p:txBody>
            </p: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175989EC-9F2F-46B1-B163-459940F1F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944862" y="2564127"/>
                  <a:ext cx="5571962" cy="18732"/>
                </a:xfrm>
                <a:prstGeom prst="line">
                  <a:avLst/>
                </a:prstGeom>
                <a:ln>
                  <a:solidFill>
                    <a:schemeClr val="bg2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85" name="Picture 2" descr="Innova grc: software de gestión de riesgos y Compliance">
                <a:extLst>
                  <a:ext uri="{FF2B5EF4-FFF2-40B4-BE49-F238E27FC236}">
                    <a16:creationId xmlns:a16="http://schemas.microsoft.com/office/drawing/2014/main" id="{DACA3CF7-45F6-4369-BA7D-073F4DFC7D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8708" y="2166878"/>
                <a:ext cx="1860362" cy="10792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3022A795-792F-4E10-9B50-B674F329BB2D}"/>
                  </a:ext>
                </a:extLst>
              </p:cNvPr>
              <p:cNvSpPr txBox="1"/>
              <p:nvPr/>
            </p:nvSpPr>
            <p:spPr>
              <a:xfrm>
                <a:off x="4385450" y="3315889"/>
                <a:ext cx="1454762" cy="310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Matriz de Riesgo</a:t>
                </a:r>
              </a:p>
            </p:txBody>
          </p:sp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DD8496FB-E0C2-4837-A042-BDDBB9C7365E}"/>
                  </a:ext>
                </a:extLst>
              </p:cNvPr>
              <p:cNvSpPr/>
              <p:nvPr/>
            </p:nvSpPr>
            <p:spPr>
              <a:xfrm>
                <a:off x="4069176" y="2097140"/>
                <a:ext cx="2008955" cy="154793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72225C42-CAB7-4C6D-8C4F-AD70B929F768}"/>
                  </a:ext>
                </a:extLst>
              </p:cNvPr>
              <p:cNvSpPr/>
              <p:nvPr/>
            </p:nvSpPr>
            <p:spPr>
              <a:xfrm>
                <a:off x="6162364" y="2082652"/>
                <a:ext cx="2008955" cy="155880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A5D139E3-C5DA-48D9-BF64-D6B904687FC9}"/>
                  </a:ext>
                </a:extLst>
              </p:cNvPr>
              <p:cNvSpPr/>
              <p:nvPr/>
            </p:nvSpPr>
            <p:spPr>
              <a:xfrm>
                <a:off x="8286491" y="2090117"/>
                <a:ext cx="2008955" cy="1558804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454AC533-A443-4948-BC82-818A08C613A7}"/>
                  </a:ext>
                </a:extLst>
              </p:cNvPr>
              <p:cNvSpPr/>
              <p:nvPr/>
            </p:nvSpPr>
            <p:spPr>
              <a:xfrm>
                <a:off x="6181841" y="3815727"/>
                <a:ext cx="2008955" cy="153167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81B4E84E-F6FB-4826-869C-EE5D5FEF7BE6}"/>
                  </a:ext>
                </a:extLst>
              </p:cNvPr>
              <p:cNvSpPr txBox="1"/>
              <p:nvPr/>
            </p:nvSpPr>
            <p:spPr>
              <a:xfrm>
                <a:off x="6472425" y="3301400"/>
                <a:ext cx="1454763" cy="310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Scoring de Riesgo</a:t>
                </a:r>
              </a:p>
            </p:txBody>
          </p:sp>
          <p:sp>
            <p:nvSpPr>
              <p:cNvPr id="98" name="CuadroTexto 97">
                <a:extLst>
                  <a:ext uri="{FF2B5EF4-FFF2-40B4-BE49-F238E27FC236}">
                    <a16:creationId xmlns:a16="http://schemas.microsoft.com/office/drawing/2014/main" id="{EBA1CD43-73D3-4987-B511-5E26130EB2DC}"/>
                  </a:ext>
                </a:extLst>
              </p:cNvPr>
              <p:cNvSpPr txBox="1"/>
              <p:nvPr/>
            </p:nvSpPr>
            <p:spPr>
              <a:xfrm>
                <a:off x="8387151" y="3285321"/>
                <a:ext cx="2008955" cy="310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Registro de Operaciones</a:t>
                </a:r>
              </a:p>
            </p:txBody>
          </p:sp>
          <p:sp>
            <p:nvSpPr>
              <p:cNvPr id="100" name="CuadroTexto 99">
                <a:extLst>
                  <a:ext uri="{FF2B5EF4-FFF2-40B4-BE49-F238E27FC236}">
                    <a16:creationId xmlns:a16="http://schemas.microsoft.com/office/drawing/2014/main" id="{69F7A2A1-FDA8-447D-934F-49C468AB5F25}"/>
                  </a:ext>
                </a:extLst>
              </p:cNvPr>
              <p:cNvSpPr txBox="1"/>
              <p:nvPr/>
            </p:nvSpPr>
            <p:spPr>
              <a:xfrm>
                <a:off x="6436150" y="5034476"/>
                <a:ext cx="1789174" cy="310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Canal de Denuncia</a:t>
                </a:r>
              </a:p>
            </p:txBody>
          </p:sp>
          <p:pic>
            <p:nvPicPr>
              <p:cNvPr id="102" name="Picture 2" descr="FICO® Score : Círculo de Crédito">
                <a:extLst>
                  <a:ext uri="{FF2B5EF4-FFF2-40B4-BE49-F238E27FC236}">
                    <a16:creationId xmlns:a16="http://schemas.microsoft.com/office/drawing/2014/main" id="{B047C76F-7BDA-4EAF-B9BE-C3F12C7A9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444"/>
              <a:stretch/>
            </p:blipFill>
            <p:spPr bwMode="auto">
              <a:xfrm>
                <a:off x="6162364" y="2098402"/>
                <a:ext cx="2008955" cy="11461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2" descr="3 herramientas para monitorear operaciones inusuales">
                <a:extLst>
                  <a:ext uri="{FF2B5EF4-FFF2-40B4-BE49-F238E27FC236}">
                    <a16:creationId xmlns:a16="http://schemas.microsoft.com/office/drawing/2014/main" id="{705EB8C7-C3E3-4441-85A6-F4EEF1D0E5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97"/>
              <a:stretch/>
            </p:blipFill>
            <p:spPr bwMode="auto">
              <a:xfrm>
                <a:off x="8279365" y="2098411"/>
                <a:ext cx="2008955" cy="11930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4" descr="Los riesgos y beneficios de usar la IA para detectar crímenes - El  Financiero">
                <a:extLst>
                  <a:ext uri="{FF2B5EF4-FFF2-40B4-BE49-F238E27FC236}">
                    <a16:creationId xmlns:a16="http://schemas.microsoft.com/office/drawing/2014/main" id="{8E75BADD-17E2-44DB-8285-DB25458D91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76558" y="3815727"/>
                <a:ext cx="2014236" cy="12156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8" name="Rectángulo 107">
                <a:extLst>
                  <a:ext uri="{FF2B5EF4-FFF2-40B4-BE49-F238E27FC236}">
                    <a16:creationId xmlns:a16="http://schemas.microsoft.com/office/drawing/2014/main" id="{2D6E12AF-D101-4E68-AD07-82E61E4C386F}"/>
                  </a:ext>
                </a:extLst>
              </p:cNvPr>
              <p:cNvSpPr/>
              <p:nvPr/>
            </p:nvSpPr>
            <p:spPr>
              <a:xfrm>
                <a:off x="4067090" y="3806757"/>
                <a:ext cx="2008955" cy="1538539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C6509CC1-8B08-4644-9CF4-EDE8B3255086}"/>
                  </a:ext>
                </a:extLst>
              </p:cNvPr>
              <p:cNvSpPr txBox="1"/>
              <p:nvPr/>
            </p:nvSpPr>
            <p:spPr>
              <a:xfrm>
                <a:off x="4321399" y="5025506"/>
                <a:ext cx="17891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Consulta de listas</a:t>
                </a:r>
              </a:p>
            </p:txBody>
          </p:sp>
          <p:sp>
            <p:nvSpPr>
              <p:cNvPr id="112" name="Rectángulo 111">
                <a:extLst>
                  <a:ext uri="{FF2B5EF4-FFF2-40B4-BE49-F238E27FC236}">
                    <a16:creationId xmlns:a16="http://schemas.microsoft.com/office/drawing/2014/main" id="{B0453941-4458-4936-9AE6-B729929D4007}"/>
                  </a:ext>
                </a:extLst>
              </p:cNvPr>
              <p:cNvSpPr/>
              <p:nvPr/>
            </p:nvSpPr>
            <p:spPr>
              <a:xfrm>
                <a:off x="8276181" y="3806757"/>
                <a:ext cx="2008955" cy="1538539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60A5C7F2-FEBC-48EB-9003-4C91B9937220}"/>
                  </a:ext>
                </a:extLst>
              </p:cNvPr>
              <p:cNvSpPr txBox="1"/>
              <p:nvPr/>
            </p:nvSpPr>
            <p:spPr>
              <a:xfrm>
                <a:off x="8856918" y="5025507"/>
                <a:ext cx="8891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Mis Cursos</a:t>
                </a:r>
              </a:p>
            </p:txBody>
          </p:sp>
          <p:pic>
            <p:nvPicPr>
              <p:cNvPr id="116" name="Picture 4" descr="Solo un 10% de las pymes españolas usa Big Data - El Independiente">
                <a:extLst>
                  <a:ext uri="{FF2B5EF4-FFF2-40B4-BE49-F238E27FC236}">
                    <a16:creationId xmlns:a16="http://schemas.microsoft.com/office/drawing/2014/main" id="{D6C5E74B-5B51-4B87-A56A-30E1375C36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1441" y="3813746"/>
                <a:ext cx="1984603" cy="11697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" name="Picture 6" descr="La biblioteca integrada en la enseñanza universitaria online: situación en  España | Universo Abierto">
                <a:extLst>
                  <a:ext uri="{FF2B5EF4-FFF2-40B4-BE49-F238E27FC236}">
                    <a16:creationId xmlns:a16="http://schemas.microsoft.com/office/drawing/2014/main" id="{FD73B944-5828-492E-A3FC-36B1290180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83779" y="3812410"/>
                <a:ext cx="1986200" cy="1184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1" name="Imagen 1030">
              <a:extLst>
                <a:ext uri="{FF2B5EF4-FFF2-40B4-BE49-F238E27FC236}">
                  <a16:creationId xmlns:a16="http://schemas.microsoft.com/office/drawing/2014/main" id="{EBFF27B9-33B2-4FDA-8FF8-0F2B27BBD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23251" y="571137"/>
              <a:ext cx="1903385" cy="498357"/>
            </a:xfrm>
            <a:prstGeom prst="rect">
              <a:avLst/>
            </a:prstGeom>
          </p:spPr>
        </p:pic>
        <p:sp>
          <p:nvSpPr>
            <p:cNvPr id="1032" name="Rectángulo 1031">
              <a:extLst>
                <a:ext uri="{FF2B5EF4-FFF2-40B4-BE49-F238E27FC236}">
                  <a16:creationId xmlns:a16="http://schemas.microsoft.com/office/drawing/2014/main" id="{F64036FE-738D-465D-99B5-340A2B810895}"/>
                </a:ext>
              </a:extLst>
            </p:cNvPr>
            <p:cNvSpPr/>
            <p:nvPr/>
          </p:nvSpPr>
          <p:spPr>
            <a:xfrm>
              <a:off x="1936429" y="5803601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3" name="CuadroTexto 1032">
              <a:extLst>
                <a:ext uri="{FF2B5EF4-FFF2-40B4-BE49-F238E27FC236}">
                  <a16:creationId xmlns:a16="http://schemas.microsoft.com/office/drawing/2014/main" id="{82407352-B150-4BA3-8976-56E6F6663373}"/>
                </a:ext>
              </a:extLst>
            </p:cNvPr>
            <p:cNvSpPr txBox="1"/>
            <p:nvPr/>
          </p:nvSpPr>
          <p:spPr>
            <a:xfrm>
              <a:off x="2540359" y="5891633"/>
              <a:ext cx="5618109" cy="255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Open Sans"/>
                </a:rPr>
                <a:t>Calle Las Orquídeas 585, Piso 12 – San Isidro </a:t>
              </a:r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I soporte@conoce.com.pe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034" name="CuadroTexto 1033">
              <a:extLst>
                <a:ext uri="{FF2B5EF4-FFF2-40B4-BE49-F238E27FC236}">
                  <a16:creationId xmlns:a16="http://schemas.microsoft.com/office/drawing/2014/main" id="{4A0F3DF0-0780-4CAD-AED1-3481E6A1FD51}"/>
                </a:ext>
              </a:extLst>
            </p:cNvPr>
            <p:cNvSpPr txBox="1"/>
            <p:nvPr/>
          </p:nvSpPr>
          <p:spPr>
            <a:xfrm>
              <a:off x="2540359" y="6072335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35" name="Picture 2" descr="Conoce Capacitación Empresarial">
              <a:extLst>
                <a:ext uri="{FF2B5EF4-FFF2-40B4-BE49-F238E27FC236}">
                  <a16:creationId xmlns:a16="http://schemas.microsoft.com/office/drawing/2014/main" id="{6C1DF357-54F3-42CA-AEFE-E2A04D73D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17613" y="5885561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1315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05DE2C5F-D2CB-4F3F-9362-1F0F85FAB230}"/>
              </a:ext>
            </a:extLst>
          </p:cNvPr>
          <p:cNvSpPr txBox="1"/>
          <p:nvPr/>
        </p:nvSpPr>
        <p:spPr>
          <a:xfrm>
            <a:off x="869642" y="337351"/>
            <a:ext cx="416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(1): </a:t>
            </a:r>
            <a:r>
              <a:rPr lang="es-ES" dirty="0"/>
              <a:t>Datos para capturar de los interesados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74C3C96-EBFB-4C53-A551-1C59457148FE}"/>
              </a:ext>
            </a:extLst>
          </p:cNvPr>
          <p:cNvGrpSpPr/>
          <p:nvPr/>
        </p:nvGrpSpPr>
        <p:grpSpPr>
          <a:xfrm>
            <a:off x="66675" y="836357"/>
            <a:ext cx="5940611" cy="4469067"/>
            <a:chOff x="530214" y="836358"/>
            <a:chExt cx="5477072" cy="336734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EEC03EE-01C6-44CA-A861-6DAC7AD120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32152"/>
            <a:stretch/>
          </p:blipFill>
          <p:spPr>
            <a:xfrm>
              <a:off x="530214" y="836358"/>
              <a:ext cx="5340796" cy="281465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BDC28142-E2C3-417D-8141-AC386543F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7340" b="13997"/>
            <a:stretch/>
          </p:blipFill>
          <p:spPr>
            <a:xfrm>
              <a:off x="666490" y="3780683"/>
              <a:ext cx="5340796" cy="400051"/>
            </a:xfrm>
            <a:prstGeom prst="rect">
              <a:avLst/>
            </a:prstGeom>
          </p:spPr>
        </p:pic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C9FA22CC-D0FB-4E70-BF72-2E7846EF2319}"/>
                </a:ext>
              </a:extLst>
            </p:cNvPr>
            <p:cNvSpPr/>
            <p:nvPr/>
          </p:nvSpPr>
          <p:spPr>
            <a:xfrm>
              <a:off x="736600" y="3244850"/>
              <a:ext cx="774700" cy="9588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EF62C78-E528-45F3-AC80-6CE0DDDFD196}"/>
                </a:ext>
              </a:extLst>
            </p:cNvPr>
            <p:cNvSpPr txBox="1"/>
            <p:nvPr/>
          </p:nvSpPr>
          <p:spPr>
            <a:xfrm>
              <a:off x="736600" y="3266752"/>
              <a:ext cx="793620" cy="150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dirty="0">
                  <a:solidFill>
                    <a:srgbClr val="FF0000"/>
                  </a:solidFill>
                </a:rPr>
                <a:t>*</a:t>
              </a:r>
              <a:r>
                <a:rPr lang="es-ES" sz="700" dirty="0"/>
                <a:t> Teléfono / Móvil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74B85875-F9D7-4E37-B119-E00EE8D28B69}"/>
                </a:ext>
              </a:extLst>
            </p:cNvPr>
            <p:cNvSpPr txBox="1"/>
            <p:nvPr/>
          </p:nvSpPr>
          <p:spPr>
            <a:xfrm>
              <a:off x="587364" y="3466342"/>
              <a:ext cx="1152406" cy="150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00" dirty="0">
                  <a:solidFill>
                    <a:srgbClr val="FF0000"/>
                  </a:solidFill>
                </a:rPr>
                <a:t>*</a:t>
              </a:r>
              <a:r>
                <a:rPr lang="es-ES" sz="700" dirty="0"/>
                <a:t> Producto de su interés</a:t>
              </a:r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00AE67FF-7B59-4B63-988F-30151DE85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43" y="836357"/>
            <a:ext cx="5755182" cy="48508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517BD08-8599-45D7-825D-ADBD54A0B033}"/>
              </a:ext>
            </a:extLst>
          </p:cNvPr>
          <p:cNvSpPr txBox="1"/>
          <p:nvPr/>
        </p:nvSpPr>
        <p:spPr>
          <a:xfrm>
            <a:off x="6867160" y="383118"/>
            <a:ext cx="4143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(2): 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Opción que permita recuperar la clave</a:t>
            </a:r>
          </a:p>
        </p:txBody>
      </p:sp>
    </p:spTree>
    <p:extLst>
      <p:ext uri="{BB962C8B-B14F-4D97-AF65-F5344CB8AC3E}">
        <p14:creationId xmlns:p14="http://schemas.microsoft.com/office/powerpoint/2010/main" val="112343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a16:creationId xmlns:a16="http://schemas.microsoft.com/office/drawing/2014/main" id="{523D6433-E28A-486B-926C-D184ED63D350}"/>
              </a:ext>
            </a:extLst>
          </p:cNvPr>
          <p:cNvGrpSpPr/>
          <p:nvPr/>
        </p:nvGrpSpPr>
        <p:grpSpPr>
          <a:xfrm>
            <a:off x="1487694" y="0"/>
            <a:ext cx="9346266" cy="6858000"/>
            <a:chOff x="1487694" y="0"/>
            <a:chExt cx="9346266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C36AC4E-C459-4671-BCE2-E752DE2BE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F3FF503-2B8C-46ED-A00A-219443191B00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823AC523-32B4-4823-BFD4-8C21763B9BAF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730C0E8F-5648-4DD8-A821-D9D7DB773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10" name="Triángulo isósceles 9">
              <a:extLst>
                <a:ext uri="{FF2B5EF4-FFF2-40B4-BE49-F238E27FC236}">
                  <a16:creationId xmlns:a16="http://schemas.microsoft.com/office/drawing/2014/main" id="{52CF17B6-CE26-48D5-AF71-A7D0123129E5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8302C19-3F8B-4E3C-BEBA-8FBB6CADE3D7}"/>
                </a:ext>
              </a:extLst>
            </p:cNvPr>
            <p:cNvSpPr txBox="1"/>
            <p:nvPr/>
          </p:nvSpPr>
          <p:spPr>
            <a:xfrm>
              <a:off x="8723105" y="235624"/>
              <a:ext cx="15180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Marco Paredes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7CD10065-669A-4FBF-96FB-58EBDC15CD8C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630BAA6-EF50-488B-AA3C-47815B4D6DF2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38E60309-FF26-44CD-AF17-BAA6528E4461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EA594495-31DA-48AB-A4B3-0E16148DD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2050" name="Picture 2" descr="Conoce Capacitación Empresarial">
              <a:extLst>
                <a:ext uri="{FF2B5EF4-FFF2-40B4-BE49-F238E27FC236}">
                  <a16:creationId xmlns:a16="http://schemas.microsoft.com/office/drawing/2014/main" id="{078AEBBB-95EA-47C0-85CD-666FE5B94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4B73D75-663D-4CF9-B488-815F895238F4}"/>
                </a:ext>
              </a:extLst>
            </p:cNvPr>
            <p:cNvSpPr txBox="1"/>
            <p:nvPr/>
          </p:nvSpPr>
          <p:spPr>
            <a:xfrm>
              <a:off x="4157169" y="1510266"/>
              <a:ext cx="50355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Soluciones para prevenir la Corrupción y Lavado de Activos:</a:t>
              </a:r>
            </a:p>
          </p:txBody>
        </p:sp>
        <p:pic>
          <p:nvPicPr>
            <p:cNvPr id="25" name="Picture 2" descr="Innova grc: software de gestión de riesgos y Compliance">
              <a:extLst>
                <a:ext uri="{FF2B5EF4-FFF2-40B4-BE49-F238E27FC236}">
                  <a16:creationId xmlns:a16="http://schemas.microsoft.com/office/drawing/2014/main" id="{3201AEFC-94B1-46BC-8C4E-A92EFAD85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4969" y="2018020"/>
              <a:ext cx="1860362" cy="1079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BFD65EBC-F4F8-4BC3-9DFE-589CD0A3190A}"/>
                </a:ext>
              </a:extLst>
            </p:cNvPr>
            <p:cNvSpPr txBox="1"/>
            <p:nvPr/>
          </p:nvSpPr>
          <p:spPr>
            <a:xfrm>
              <a:off x="2641711" y="3167031"/>
              <a:ext cx="1454762" cy="31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Matriz de Riesgo</a:t>
              </a:r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28CD0765-8801-4658-83B2-63DE9D12B5C2}"/>
                </a:ext>
              </a:extLst>
            </p:cNvPr>
            <p:cNvSpPr/>
            <p:nvPr/>
          </p:nvSpPr>
          <p:spPr>
            <a:xfrm>
              <a:off x="2325437" y="1948282"/>
              <a:ext cx="2008955" cy="206350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DFF8F55B-D737-4ED3-994A-27A4D1D46AD5}"/>
                </a:ext>
              </a:extLst>
            </p:cNvPr>
            <p:cNvSpPr/>
            <p:nvPr/>
          </p:nvSpPr>
          <p:spPr>
            <a:xfrm>
              <a:off x="5045945" y="1933793"/>
              <a:ext cx="2008955" cy="207799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373C033F-894D-4D9A-B702-C89667EBC589}"/>
                </a:ext>
              </a:extLst>
            </p:cNvPr>
            <p:cNvSpPr/>
            <p:nvPr/>
          </p:nvSpPr>
          <p:spPr>
            <a:xfrm>
              <a:off x="7914362" y="1941258"/>
              <a:ext cx="2008955" cy="207799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15CE595C-8A41-450E-A315-FF5B3FCDEC39}"/>
                </a:ext>
              </a:extLst>
            </p:cNvPr>
            <p:cNvSpPr/>
            <p:nvPr/>
          </p:nvSpPr>
          <p:spPr>
            <a:xfrm>
              <a:off x="5065422" y="4198511"/>
              <a:ext cx="2008955" cy="200033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9A13077-2C43-45D7-A4A4-92C04CEAF6D6}"/>
                </a:ext>
              </a:extLst>
            </p:cNvPr>
            <p:cNvSpPr txBox="1"/>
            <p:nvPr/>
          </p:nvSpPr>
          <p:spPr>
            <a:xfrm>
              <a:off x="5356006" y="3152542"/>
              <a:ext cx="1454763" cy="31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Scoring de Riesgo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EA246A6E-228A-424A-87E5-1BD1C6EEB9A9}"/>
                </a:ext>
              </a:extLst>
            </p:cNvPr>
            <p:cNvSpPr txBox="1"/>
            <p:nvPr/>
          </p:nvSpPr>
          <p:spPr>
            <a:xfrm>
              <a:off x="8015022" y="3136463"/>
              <a:ext cx="2008955" cy="31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Registro de Operaciones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AB2E6E3E-F23F-45FE-82FC-45E00D2A5218}"/>
                </a:ext>
              </a:extLst>
            </p:cNvPr>
            <p:cNvSpPr txBox="1"/>
            <p:nvPr/>
          </p:nvSpPr>
          <p:spPr>
            <a:xfrm>
              <a:off x="5319731" y="5417260"/>
              <a:ext cx="1789174" cy="31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Canal de Denuncia</a:t>
              </a:r>
            </a:p>
          </p:txBody>
        </p:sp>
        <p:pic>
          <p:nvPicPr>
            <p:cNvPr id="43" name="Picture 2" descr="FICO® Score : Círculo de Crédito">
              <a:extLst>
                <a:ext uri="{FF2B5EF4-FFF2-40B4-BE49-F238E27FC236}">
                  <a16:creationId xmlns:a16="http://schemas.microsoft.com/office/drawing/2014/main" id="{714107B4-8992-42F9-B6B4-59575B037B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444"/>
            <a:stretch/>
          </p:blipFill>
          <p:spPr bwMode="auto">
            <a:xfrm>
              <a:off x="5045945" y="1949544"/>
              <a:ext cx="2008955" cy="1146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 descr="3 herramientas para monitorear operaciones inusuales">
              <a:extLst>
                <a:ext uri="{FF2B5EF4-FFF2-40B4-BE49-F238E27FC236}">
                  <a16:creationId xmlns:a16="http://schemas.microsoft.com/office/drawing/2014/main" id="{D890D09E-5B79-4067-858A-4A53CC22FB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7"/>
            <a:stretch/>
          </p:blipFill>
          <p:spPr bwMode="auto">
            <a:xfrm>
              <a:off x="7907236" y="1949553"/>
              <a:ext cx="2008955" cy="1193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4" descr="Los riesgos y beneficios de usar la IA para detectar crímenes - El  Financiero">
              <a:extLst>
                <a:ext uri="{FF2B5EF4-FFF2-40B4-BE49-F238E27FC236}">
                  <a16:creationId xmlns:a16="http://schemas.microsoft.com/office/drawing/2014/main" id="{4334E391-6964-4688-8D07-4DA8E3D0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0139" y="4198511"/>
              <a:ext cx="2014236" cy="1215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F0DA186C-9B93-42E0-B1D0-5BFC87770392}"/>
                </a:ext>
              </a:extLst>
            </p:cNvPr>
            <p:cNvSpPr/>
            <p:nvPr/>
          </p:nvSpPr>
          <p:spPr>
            <a:xfrm>
              <a:off x="2323351" y="4189541"/>
              <a:ext cx="2008955" cy="200930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6ECDD588-378F-4C73-B51B-63E6882477B8}"/>
                </a:ext>
              </a:extLst>
            </p:cNvPr>
            <p:cNvSpPr txBox="1"/>
            <p:nvPr/>
          </p:nvSpPr>
          <p:spPr>
            <a:xfrm>
              <a:off x="2577660" y="5408290"/>
              <a:ext cx="17891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Consulta de Listas</a:t>
              </a:r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F15CF712-627C-48B0-8C9E-BCDF31B680AC}"/>
                </a:ext>
              </a:extLst>
            </p:cNvPr>
            <p:cNvSpPr/>
            <p:nvPr/>
          </p:nvSpPr>
          <p:spPr>
            <a:xfrm>
              <a:off x="7904052" y="4189541"/>
              <a:ext cx="2008955" cy="2009303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AD0FD957-CACC-43CC-A714-923ED9297842}"/>
                </a:ext>
              </a:extLst>
            </p:cNvPr>
            <p:cNvSpPr txBox="1"/>
            <p:nvPr/>
          </p:nvSpPr>
          <p:spPr>
            <a:xfrm>
              <a:off x="8484789" y="5408291"/>
              <a:ext cx="8891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Mis Cursos</a:t>
              </a:r>
            </a:p>
          </p:txBody>
        </p:sp>
        <p:pic>
          <p:nvPicPr>
            <p:cNvPr id="2052" name="Picture 4" descr="Solo un 10% de las pymes españolas usa Big Data - El Independiente">
              <a:extLst>
                <a:ext uri="{FF2B5EF4-FFF2-40B4-BE49-F238E27FC236}">
                  <a16:creationId xmlns:a16="http://schemas.microsoft.com/office/drawing/2014/main" id="{D38C3ED3-C733-4A6C-AF75-B14EC53FC5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7702" y="4196530"/>
              <a:ext cx="1984603" cy="1169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La biblioteca integrada en la enseñanza universitaria online: situación en  España | Universo Abierto">
              <a:extLst>
                <a:ext uri="{FF2B5EF4-FFF2-40B4-BE49-F238E27FC236}">
                  <a16:creationId xmlns:a16="http://schemas.microsoft.com/office/drawing/2014/main" id="{ECFB8024-D1B2-495A-A5BB-1CDA777669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1650" y="4195194"/>
              <a:ext cx="1986200" cy="1184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4172625C-71A0-479C-A13E-D50C3E5BED0D}"/>
                </a:ext>
              </a:extLst>
            </p:cNvPr>
            <p:cNvSpPr txBox="1"/>
            <p:nvPr/>
          </p:nvSpPr>
          <p:spPr>
            <a:xfrm>
              <a:off x="3352186" y="1174872"/>
              <a:ext cx="5713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Bienvenido a Conoce – Software de Prevención de Riesgos</a:t>
              </a: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A99A16B8-9905-4E6B-9FCF-F47E5B1A7D25}"/>
                </a:ext>
              </a:extLst>
            </p:cNvPr>
            <p:cNvSpPr txBox="1"/>
            <p:nvPr/>
          </p:nvSpPr>
          <p:spPr>
            <a:xfrm>
              <a:off x="2438134" y="3375835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Consulta o gestiona los riesgos de cumplimiento de tu empresa.</a:t>
              </a:r>
              <a:endParaRPr lang="es-ES" sz="1200" dirty="0"/>
            </a:p>
          </p:txBody>
        </p:sp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D1262988-CDA4-4068-8D71-8F7CEF94F92D}"/>
                </a:ext>
              </a:extLst>
            </p:cNvPr>
            <p:cNvSpPr txBox="1"/>
            <p:nvPr/>
          </p:nvSpPr>
          <p:spPr>
            <a:xfrm>
              <a:off x="5118708" y="3400694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Consulta </a:t>
              </a:r>
              <a:r>
                <a:rPr lang="es-ES" sz="1200" dirty="0">
                  <a:solidFill>
                    <a:srgbClr val="555555"/>
                  </a:solidFill>
                  <a:latin typeface="Ubuntu"/>
                </a:rPr>
                <a:t>los riesgos de los trabajadores por su perfil profesional</a:t>
              </a:r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.</a:t>
              </a:r>
              <a:endParaRPr lang="es-ES" sz="1200" dirty="0"/>
            </a:p>
          </p:txBody>
        </p:sp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294EE3DD-B55C-437A-BC7A-66AFE86637B8}"/>
                </a:ext>
              </a:extLst>
            </p:cNvPr>
            <p:cNvSpPr txBox="1"/>
            <p:nvPr/>
          </p:nvSpPr>
          <p:spPr>
            <a:xfrm>
              <a:off x="8003796" y="3371015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Consulta o gestiona los riesgos de cumplimiento de tu empresa.</a:t>
              </a:r>
              <a:endParaRPr lang="es-ES" sz="1200" dirty="0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E73DB9B5-8491-4766-A8C8-CB001A047B6E}"/>
                </a:ext>
              </a:extLst>
            </p:cNvPr>
            <p:cNvSpPr txBox="1"/>
            <p:nvPr/>
          </p:nvSpPr>
          <p:spPr>
            <a:xfrm>
              <a:off x="2395279" y="5588528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Consulta </a:t>
              </a:r>
              <a:r>
                <a:rPr lang="es-ES" sz="1200" dirty="0">
                  <a:solidFill>
                    <a:srgbClr val="555555"/>
                  </a:solidFill>
                  <a:latin typeface="Ubuntu"/>
                </a:rPr>
                <a:t>en las principales listas sobre el perfil de tus proveedores y clientes</a:t>
              </a:r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.</a:t>
              </a:r>
              <a:endParaRPr lang="es-ES" sz="1200" dirty="0"/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0545A85B-05DB-4289-965A-63EFD683C01B}"/>
                </a:ext>
              </a:extLst>
            </p:cNvPr>
            <p:cNvSpPr txBox="1"/>
            <p:nvPr/>
          </p:nvSpPr>
          <p:spPr>
            <a:xfrm>
              <a:off x="5083096" y="5594783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Gestiona las denuncias recibidas a través del canal de denuncias.</a:t>
              </a:r>
              <a:endParaRPr lang="es-ES" sz="1200" dirty="0"/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140FCAD8-901F-472C-9B22-F93E5D2DD5E1}"/>
                </a:ext>
              </a:extLst>
            </p:cNvPr>
            <p:cNvSpPr txBox="1"/>
            <p:nvPr/>
          </p:nvSpPr>
          <p:spPr>
            <a:xfrm>
              <a:off x="7958415" y="5588527"/>
              <a:ext cx="18926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b="0" i="0" dirty="0">
                  <a:solidFill>
                    <a:srgbClr val="555555"/>
                  </a:solidFill>
                  <a:effectLst/>
                  <a:latin typeface="Ubuntu"/>
                </a:rPr>
                <a:t>Accede a los cursos de Prevención de Lavado de Activos y corrupción.</a:t>
              </a:r>
              <a:endParaRPr lang="es-ES" sz="1200" dirty="0"/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16C769EC-6DCB-4495-AED2-E5B4705AC862}"/>
                </a:ext>
              </a:extLst>
            </p:cNvPr>
            <p:cNvSpPr txBox="1"/>
            <p:nvPr/>
          </p:nvSpPr>
          <p:spPr>
            <a:xfrm>
              <a:off x="1736381" y="74703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C1C2355C-F73E-4CF9-8916-9682D22ACED0}"/>
                </a:ext>
              </a:extLst>
            </p:cNvPr>
            <p:cNvSpPr txBox="1"/>
            <p:nvPr/>
          </p:nvSpPr>
          <p:spPr>
            <a:xfrm>
              <a:off x="2909244" y="75005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Matriz de riesgo</a:t>
              </a:r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63027AA3-1990-440B-8C55-B25AB5631084}"/>
                </a:ext>
              </a:extLst>
            </p:cNvPr>
            <p:cNvSpPr txBox="1"/>
            <p:nvPr/>
          </p:nvSpPr>
          <p:spPr>
            <a:xfrm>
              <a:off x="4057578" y="753696"/>
              <a:ext cx="141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Scoring de riesgo</a:t>
              </a:r>
            </a:p>
          </p:txBody>
        </p: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31951390-1F64-4C76-8EAB-F6CCD188F8CB}"/>
                </a:ext>
              </a:extLst>
            </p:cNvPr>
            <p:cNvSpPr txBox="1"/>
            <p:nvPr/>
          </p:nvSpPr>
          <p:spPr>
            <a:xfrm>
              <a:off x="5272419" y="747204"/>
              <a:ext cx="1687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D2205CA8-442F-420D-8645-D727D43B0F10}"/>
                </a:ext>
              </a:extLst>
            </p:cNvPr>
            <p:cNvSpPr txBox="1"/>
            <p:nvPr/>
          </p:nvSpPr>
          <p:spPr>
            <a:xfrm>
              <a:off x="6979014" y="748857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Consulta de listas</a:t>
              </a:r>
            </a:p>
          </p:txBody>
        </p: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278AE38E-3354-4D58-9986-F6BDC46577F5}"/>
                </a:ext>
              </a:extLst>
            </p:cNvPr>
            <p:cNvSpPr txBox="1"/>
            <p:nvPr/>
          </p:nvSpPr>
          <p:spPr>
            <a:xfrm>
              <a:off x="8203032" y="75141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F19C934C-F107-4E14-98F6-01BCE1DE2F02}"/>
                </a:ext>
              </a:extLst>
            </p:cNvPr>
            <p:cNvSpPr txBox="1"/>
            <p:nvPr/>
          </p:nvSpPr>
          <p:spPr>
            <a:xfrm>
              <a:off x="9451720" y="74939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E035C15-4B47-4A95-8072-568F8FD0CD4F}"/>
              </a:ext>
            </a:extLst>
          </p:cNvPr>
          <p:cNvSpPr txBox="1"/>
          <p:nvPr/>
        </p:nvSpPr>
        <p:spPr>
          <a:xfrm>
            <a:off x="1874516" y="641930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19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o 93">
            <a:extLst>
              <a:ext uri="{FF2B5EF4-FFF2-40B4-BE49-F238E27FC236}">
                <a16:creationId xmlns:a16="http://schemas.microsoft.com/office/drawing/2014/main" id="{7EAD7D27-9A4E-4115-BD7E-353539C09D8D}"/>
              </a:ext>
            </a:extLst>
          </p:cNvPr>
          <p:cNvGrpSpPr/>
          <p:nvPr/>
        </p:nvGrpSpPr>
        <p:grpSpPr>
          <a:xfrm>
            <a:off x="1487694" y="8467"/>
            <a:ext cx="9216611" cy="6858000"/>
            <a:chOff x="1487694" y="0"/>
            <a:chExt cx="9216611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37FE474-7EF4-4018-9785-AA380A13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573F539-09DE-4340-88FF-3CEE23106FD2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54A204A-9458-401E-850C-6D215CE41763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FBC8C8AD-BACA-44A2-9C0D-5D3B27DB7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408F5A2F-9D13-4888-9F65-318469D09F10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117FBF3-3163-48CB-B9A5-EDDB42A9BD1D}"/>
                </a:ext>
              </a:extLst>
            </p:cNvPr>
            <p:cNvSpPr txBox="1"/>
            <p:nvPr/>
          </p:nvSpPr>
          <p:spPr>
            <a:xfrm>
              <a:off x="8032901" y="235624"/>
              <a:ext cx="2208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Universal: Marco Paredes</a:t>
              </a: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AFDF4359-C66B-4B31-9C9D-0F498B2B372D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10B94987-1C30-49D1-9FF3-E0F4D0B4AF7E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07E08FB-D8DE-49A5-8B66-0D0FF274A26D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10DFBB1A-C17D-4D21-BA8D-693DA316F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27" name="Picture 2" descr="Conoce Capacitación Empresarial">
              <a:extLst>
                <a:ext uri="{FF2B5EF4-FFF2-40B4-BE49-F238E27FC236}">
                  <a16:creationId xmlns:a16="http://schemas.microsoft.com/office/drawing/2014/main" id="{1724F41F-30FB-4AB1-BA13-409C61F98B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BC474EC-D663-4F16-832D-EAA0925EEFFD}"/>
                </a:ext>
              </a:extLst>
            </p:cNvPr>
            <p:cNvSpPr txBox="1"/>
            <p:nvPr/>
          </p:nvSpPr>
          <p:spPr>
            <a:xfrm>
              <a:off x="1567041" y="74703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714DB7F-930D-4101-B0EE-B2E39C01753B}"/>
                </a:ext>
              </a:extLst>
            </p:cNvPr>
            <p:cNvSpPr txBox="1"/>
            <p:nvPr/>
          </p:nvSpPr>
          <p:spPr>
            <a:xfrm>
              <a:off x="2807640" y="750052"/>
              <a:ext cx="138224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Matriz de riesgos</a:t>
              </a:r>
            </a:p>
          </p:txBody>
        </p: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951D1228-D11A-4B05-99BE-97D8016C0DE4}"/>
                </a:ext>
              </a:extLst>
            </p:cNvPr>
            <p:cNvSpPr txBox="1"/>
            <p:nvPr/>
          </p:nvSpPr>
          <p:spPr>
            <a:xfrm>
              <a:off x="4108380" y="753696"/>
              <a:ext cx="141034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Scoring de riesgos</a:t>
              </a:r>
            </a:p>
          </p:txBody>
        </p:sp>
        <p:sp>
          <p:nvSpPr>
            <p:cNvPr id="87" name="CuadroTexto 86">
              <a:extLst>
                <a:ext uri="{FF2B5EF4-FFF2-40B4-BE49-F238E27FC236}">
                  <a16:creationId xmlns:a16="http://schemas.microsoft.com/office/drawing/2014/main" id="{A669D7FB-37F4-41CB-90D6-23B3C12ED543}"/>
                </a:ext>
              </a:extLst>
            </p:cNvPr>
            <p:cNvSpPr txBox="1"/>
            <p:nvPr/>
          </p:nvSpPr>
          <p:spPr>
            <a:xfrm>
              <a:off x="5509495" y="747204"/>
              <a:ext cx="188191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89" name="CuadroTexto 88">
              <a:extLst>
                <a:ext uri="{FF2B5EF4-FFF2-40B4-BE49-F238E27FC236}">
                  <a16:creationId xmlns:a16="http://schemas.microsoft.com/office/drawing/2014/main" id="{375DA943-2B27-418A-85DF-2382881031F3}"/>
                </a:ext>
              </a:extLst>
            </p:cNvPr>
            <p:cNvSpPr txBox="1"/>
            <p:nvPr/>
          </p:nvSpPr>
          <p:spPr>
            <a:xfrm>
              <a:off x="7391400" y="748857"/>
              <a:ext cx="96985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Listas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F0A12046-EDE7-446D-B228-0FF9EA091497}"/>
                </a:ext>
              </a:extLst>
            </p:cNvPr>
            <p:cNvSpPr txBox="1"/>
            <p:nvPr/>
          </p:nvSpPr>
          <p:spPr>
            <a:xfrm>
              <a:off x="8076031" y="751410"/>
              <a:ext cx="146584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1DFE14D3-E67F-4BB8-9D1F-4AB0D8482F86}"/>
                </a:ext>
              </a:extLst>
            </p:cNvPr>
            <p:cNvSpPr txBox="1"/>
            <p:nvPr/>
          </p:nvSpPr>
          <p:spPr>
            <a:xfrm>
              <a:off x="9536390" y="749390"/>
              <a:ext cx="109721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95" name="Rectángulo 94">
            <a:extLst>
              <a:ext uri="{FF2B5EF4-FFF2-40B4-BE49-F238E27FC236}">
                <a16:creationId xmlns:a16="http://schemas.microsoft.com/office/drawing/2014/main" id="{82E412E3-98EE-4C07-B73C-308AD51F2EEA}"/>
              </a:ext>
            </a:extLst>
          </p:cNvPr>
          <p:cNvSpPr/>
          <p:nvPr/>
        </p:nvSpPr>
        <p:spPr>
          <a:xfrm>
            <a:off x="1643063" y="1156179"/>
            <a:ext cx="8905873" cy="38100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E8EFCC4-F4A3-44A0-9961-C7D4F51001C1}"/>
              </a:ext>
            </a:extLst>
          </p:cNvPr>
          <p:cNvSpPr txBox="1"/>
          <p:nvPr/>
        </p:nvSpPr>
        <p:spPr>
          <a:xfrm>
            <a:off x="1617843" y="1187414"/>
            <a:ext cx="2065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Matriz de Riesgos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0C060EAF-DC6C-4046-A92D-E640BE3749A9}"/>
              </a:ext>
            </a:extLst>
          </p:cNvPr>
          <p:cNvSpPr/>
          <p:nvPr/>
        </p:nvSpPr>
        <p:spPr>
          <a:xfrm>
            <a:off x="8490902" y="1230842"/>
            <a:ext cx="1787635" cy="247415"/>
          </a:xfrm>
          <a:prstGeom prst="rect">
            <a:avLst/>
          </a:prstGeom>
          <a:solidFill>
            <a:srgbClr val="92D05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Nuevo análisis de riesgos</a:t>
            </a:r>
          </a:p>
        </p:txBody>
      </p:sp>
      <p:pic>
        <p:nvPicPr>
          <p:cNvPr id="3074" name="Picture 2" descr="Innova GRC - Software de gestión integral de riesgos y control interno">
            <a:extLst>
              <a:ext uri="{FF2B5EF4-FFF2-40B4-BE49-F238E27FC236}">
                <a16:creationId xmlns:a16="http://schemas.microsoft.com/office/drawing/2014/main" id="{B16F7238-40D2-431B-A870-F7F3D9CE40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5" t="47901" r="12519" b="21328"/>
          <a:stretch/>
        </p:blipFill>
        <p:spPr bwMode="auto">
          <a:xfrm>
            <a:off x="1601679" y="1651923"/>
            <a:ext cx="9035162" cy="2539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Imagen 100">
            <a:extLst>
              <a:ext uri="{FF2B5EF4-FFF2-40B4-BE49-F238E27FC236}">
                <a16:creationId xmlns:a16="http://schemas.microsoft.com/office/drawing/2014/main" id="{F96187F0-33DC-4B40-9A72-54439CF03D3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62372"/>
          <a:stretch/>
        </p:blipFill>
        <p:spPr>
          <a:xfrm>
            <a:off x="1643063" y="4117075"/>
            <a:ext cx="8947258" cy="2030773"/>
          </a:xfrm>
          <a:prstGeom prst="rect">
            <a:avLst/>
          </a:prstGeom>
        </p:spPr>
      </p:pic>
      <p:pic>
        <p:nvPicPr>
          <p:cNvPr id="103" name="Imagen 102">
            <a:extLst>
              <a:ext uri="{FF2B5EF4-FFF2-40B4-BE49-F238E27FC236}">
                <a16:creationId xmlns:a16="http://schemas.microsoft.com/office/drawing/2014/main" id="{27476B99-4021-419B-8A10-C18192467F9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9836"/>
          <a:stretch/>
        </p:blipFill>
        <p:spPr>
          <a:xfrm>
            <a:off x="10693419" y="20732"/>
            <a:ext cx="142875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4F2ADFC-1C07-4F4A-A022-F0FC25577BAA}"/>
              </a:ext>
            </a:extLst>
          </p:cNvPr>
          <p:cNvSpPr txBox="1"/>
          <p:nvPr/>
        </p:nvSpPr>
        <p:spPr>
          <a:xfrm>
            <a:off x="62143" y="1846555"/>
            <a:ext cx="127573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Brinde un resumen de los riesgos identificados por cada nivel en la matriz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1FD08D4-AEB6-40DB-8444-978F50762930}"/>
              </a:ext>
            </a:extLst>
          </p:cNvPr>
          <p:cNvCxnSpPr>
            <a:cxnSpLocks/>
          </p:cNvCxnSpPr>
          <p:nvPr/>
        </p:nvCxnSpPr>
        <p:spPr>
          <a:xfrm>
            <a:off x="1337876" y="2095130"/>
            <a:ext cx="1041340" cy="292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C26DDBC4-BC44-4B28-AC4D-14A9D6BD6605}"/>
              </a:ext>
            </a:extLst>
          </p:cNvPr>
          <p:cNvSpPr txBox="1"/>
          <p:nvPr/>
        </p:nvSpPr>
        <p:spPr>
          <a:xfrm>
            <a:off x="10892872" y="1846554"/>
            <a:ext cx="127573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Brinde un resumen de los riesgos identificados por cada nivel en porcentajes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40FC246A-69DC-45F4-B8DD-B8672025E796}"/>
              </a:ext>
            </a:extLst>
          </p:cNvPr>
          <p:cNvCxnSpPr>
            <a:cxnSpLocks/>
          </p:cNvCxnSpPr>
          <p:nvPr/>
        </p:nvCxnSpPr>
        <p:spPr>
          <a:xfrm flipH="1">
            <a:off x="9764445" y="2241605"/>
            <a:ext cx="1128427" cy="1052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EC5B1C2-F9C2-4779-97AC-3452FC2F2E20}"/>
              </a:ext>
            </a:extLst>
          </p:cNvPr>
          <p:cNvSpPr txBox="1"/>
          <p:nvPr/>
        </p:nvSpPr>
        <p:spPr>
          <a:xfrm>
            <a:off x="10932039" y="373380"/>
            <a:ext cx="1275733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Botón que permita registrar un nuevo riesgo </a:t>
            </a:r>
            <a:r>
              <a:rPr lang="es-ES" sz="1200" dirty="0">
                <a:solidFill>
                  <a:srgbClr val="FF0000"/>
                </a:solidFill>
              </a:rPr>
              <a:t>(3)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43A76B5-4370-4C2D-9ECC-29C3675785D5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953769" y="788879"/>
            <a:ext cx="978270" cy="4685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963C1AA-B45E-4DBE-81A8-700474F609BD}"/>
              </a:ext>
            </a:extLst>
          </p:cNvPr>
          <p:cNvSpPr txBox="1"/>
          <p:nvPr/>
        </p:nvSpPr>
        <p:spPr>
          <a:xfrm>
            <a:off x="73045" y="3932132"/>
            <a:ext cx="1275733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Lista de todos los riesgos ingresados, que permita ordenarlos de acuerdo al interés del usuario.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E896ADAE-1FE4-4695-829F-7C0A0A9B0227}"/>
              </a:ext>
            </a:extLst>
          </p:cNvPr>
          <p:cNvCxnSpPr>
            <a:cxnSpLocks/>
          </p:cNvCxnSpPr>
          <p:nvPr/>
        </p:nvCxnSpPr>
        <p:spPr>
          <a:xfrm>
            <a:off x="1335999" y="4160060"/>
            <a:ext cx="1041340" cy="292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ED11D17-29FA-4CAD-8CEC-508655231006}"/>
              </a:ext>
            </a:extLst>
          </p:cNvPr>
          <p:cNvSpPr txBox="1"/>
          <p:nvPr/>
        </p:nvSpPr>
        <p:spPr>
          <a:xfrm>
            <a:off x="10960218" y="3796681"/>
            <a:ext cx="1275733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</a:rPr>
              <a:t>Opción que permite la visualización del riesgo ingresado en una nueva ventana  </a:t>
            </a:r>
            <a:r>
              <a:rPr lang="es-ES" sz="1200" dirty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3F758E-3235-487C-AF4D-A19A05C49923}"/>
              </a:ext>
            </a:extLst>
          </p:cNvPr>
          <p:cNvSpPr/>
          <p:nvPr/>
        </p:nvSpPr>
        <p:spPr>
          <a:xfrm flipV="1">
            <a:off x="1679086" y="1768176"/>
            <a:ext cx="1345404" cy="21377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58926CC-89E0-49DF-A3ED-3F2C2E03A4D9}"/>
              </a:ext>
            </a:extLst>
          </p:cNvPr>
          <p:cNvSpPr txBox="1"/>
          <p:nvPr/>
        </p:nvSpPr>
        <p:spPr>
          <a:xfrm>
            <a:off x="1643063" y="1718312"/>
            <a:ext cx="3081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MAPA DE CALOR DE RIESGOS INHERENTES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C2846A-A941-41CC-ABE6-275B84744138}"/>
              </a:ext>
            </a:extLst>
          </p:cNvPr>
          <p:cNvSpPr/>
          <p:nvPr/>
        </p:nvSpPr>
        <p:spPr>
          <a:xfrm flipV="1">
            <a:off x="7008292" y="1768176"/>
            <a:ext cx="1482610" cy="21377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AA193F8-561D-4D6E-813D-65F1ED9D3D17}"/>
              </a:ext>
            </a:extLst>
          </p:cNvPr>
          <p:cNvSpPr txBox="1"/>
          <p:nvPr/>
        </p:nvSpPr>
        <p:spPr>
          <a:xfrm>
            <a:off x="6970224" y="1750999"/>
            <a:ext cx="3828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GRÁFICO DE DISTRIBUCIÓN DE RIESGOS INHERENTES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BEF3B56-1778-4797-AB12-550077BDC3BD}"/>
              </a:ext>
            </a:extLst>
          </p:cNvPr>
          <p:cNvSpPr/>
          <p:nvPr/>
        </p:nvSpPr>
        <p:spPr>
          <a:xfrm flipV="1">
            <a:off x="2088429" y="4640982"/>
            <a:ext cx="7959086" cy="10008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highlight>
                <a:srgbClr val="F3F3F3"/>
              </a:highlight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F603FB1-6AC2-481D-937E-BBB091A5FB5F}"/>
              </a:ext>
            </a:extLst>
          </p:cNvPr>
          <p:cNvSpPr txBox="1"/>
          <p:nvPr/>
        </p:nvSpPr>
        <p:spPr>
          <a:xfrm>
            <a:off x="2209656" y="4574081"/>
            <a:ext cx="6970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TÍTULO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E31E87-CC96-4F56-AA37-5470B275A7A3}"/>
              </a:ext>
            </a:extLst>
          </p:cNvPr>
          <p:cNvSpPr txBox="1"/>
          <p:nvPr/>
        </p:nvSpPr>
        <p:spPr>
          <a:xfrm>
            <a:off x="5016625" y="4553599"/>
            <a:ext cx="1373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FECHA DE INICIO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254DD7F-F94F-4FCD-ADA8-499E0C14B8B3}"/>
              </a:ext>
            </a:extLst>
          </p:cNvPr>
          <p:cNvSpPr txBox="1"/>
          <p:nvPr/>
        </p:nvSpPr>
        <p:spPr>
          <a:xfrm>
            <a:off x="6487995" y="4552524"/>
            <a:ext cx="1373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FECHA FIN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199912A-158A-4FA1-8915-922B6B685E78}"/>
              </a:ext>
            </a:extLst>
          </p:cNvPr>
          <p:cNvSpPr txBox="1"/>
          <p:nvPr/>
        </p:nvSpPr>
        <p:spPr>
          <a:xfrm>
            <a:off x="8459967" y="4561047"/>
            <a:ext cx="835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ESTADO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FCA0936-8761-4EB5-ABF8-5DE6D2AD36F2}"/>
              </a:ext>
            </a:extLst>
          </p:cNvPr>
          <p:cNvSpPr txBox="1"/>
          <p:nvPr/>
        </p:nvSpPr>
        <p:spPr>
          <a:xfrm>
            <a:off x="9295593" y="4559668"/>
            <a:ext cx="835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OPCIONES</a:t>
            </a:r>
          </a:p>
        </p:txBody>
      </p: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F44B8F19-6BBB-4AC2-BAB3-F5CC59CE3BDF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9632458" y="4396846"/>
            <a:ext cx="1327760" cy="5203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n 34">
            <a:extLst>
              <a:ext uri="{FF2B5EF4-FFF2-40B4-BE49-F238E27FC236}">
                <a16:creationId xmlns:a16="http://schemas.microsoft.com/office/drawing/2014/main" id="{0F605F6B-CA20-47AC-AC55-8C2982DB3E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804" y="5021429"/>
            <a:ext cx="3511860" cy="181217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4E55E597-51E4-4818-87E8-AEC79984A4F5}"/>
              </a:ext>
            </a:extLst>
          </p:cNvPr>
          <p:cNvSpPr txBox="1"/>
          <p:nvPr/>
        </p:nvSpPr>
        <p:spPr>
          <a:xfrm>
            <a:off x="1874516" y="641930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3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ángulo 216">
            <a:extLst>
              <a:ext uri="{FF2B5EF4-FFF2-40B4-BE49-F238E27FC236}">
                <a16:creationId xmlns:a16="http://schemas.microsoft.com/office/drawing/2014/main" id="{3A453986-EC37-4242-AEC7-37AC89B5A673}"/>
              </a:ext>
            </a:extLst>
          </p:cNvPr>
          <p:cNvSpPr/>
          <p:nvPr/>
        </p:nvSpPr>
        <p:spPr>
          <a:xfrm>
            <a:off x="1487694" y="6866522"/>
            <a:ext cx="9216611" cy="1997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25A0147-B930-45DE-A099-EC4CB61DCFCE}"/>
              </a:ext>
            </a:extLst>
          </p:cNvPr>
          <p:cNvGrpSpPr/>
          <p:nvPr/>
        </p:nvGrpSpPr>
        <p:grpSpPr>
          <a:xfrm>
            <a:off x="1487694" y="-23388"/>
            <a:ext cx="9346266" cy="6881388"/>
            <a:chOff x="1487694" y="0"/>
            <a:chExt cx="9346266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872B9AE-1297-471A-9637-01E797B28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5F3B1D44-B140-44C5-83CC-6D1FDC989BED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FBC1751-A230-4525-9743-1EE24E625469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7FDFDA5-01B3-4FAC-9D6F-82FD71A5A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2AC356D2-299C-406D-83E8-0E7AE9A33CE1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4F9C7A5-F23D-41A6-8CD1-DD13335A20AA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78647CF-36F2-4370-B3BE-22726A86D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F6F6110F-02C1-439C-ABC6-7314876ADDB4}"/>
                </a:ext>
              </a:extLst>
            </p:cNvPr>
            <p:cNvSpPr txBox="1"/>
            <p:nvPr/>
          </p:nvSpPr>
          <p:spPr>
            <a:xfrm>
              <a:off x="1736381" y="74703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96212197-01EE-4707-BDDA-06ED263D8D10}"/>
                </a:ext>
              </a:extLst>
            </p:cNvPr>
            <p:cNvSpPr txBox="1"/>
            <p:nvPr/>
          </p:nvSpPr>
          <p:spPr>
            <a:xfrm>
              <a:off x="2909244" y="75005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Matriz de riesgo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8D112BCC-7066-462A-8180-D694883E8B00}"/>
                </a:ext>
              </a:extLst>
            </p:cNvPr>
            <p:cNvSpPr txBox="1"/>
            <p:nvPr/>
          </p:nvSpPr>
          <p:spPr>
            <a:xfrm>
              <a:off x="4057578" y="753696"/>
              <a:ext cx="141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Scoring de riesgo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A472F240-188E-4B2F-8A3E-AEA56D961814}"/>
                </a:ext>
              </a:extLst>
            </p:cNvPr>
            <p:cNvSpPr txBox="1"/>
            <p:nvPr/>
          </p:nvSpPr>
          <p:spPr>
            <a:xfrm>
              <a:off x="5272419" y="747204"/>
              <a:ext cx="1687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0750FCF2-FB52-4447-BB15-9E9BD8B3C6D5}"/>
                </a:ext>
              </a:extLst>
            </p:cNvPr>
            <p:cNvSpPr txBox="1"/>
            <p:nvPr/>
          </p:nvSpPr>
          <p:spPr>
            <a:xfrm>
              <a:off x="6979014" y="748857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Consulta de listas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FD710E5-C8D2-40CC-A11C-E399F53C3F99}"/>
                </a:ext>
              </a:extLst>
            </p:cNvPr>
            <p:cNvSpPr txBox="1"/>
            <p:nvPr/>
          </p:nvSpPr>
          <p:spPr>
            <a:xfrm>
              <a:off x="8203032" y="75141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C1583DE-ABDF-4334-BB27-F6DDE6BBAD30}"/>
                </a:ext>
              </a:extLst>
            </p:cNvPr>
            <p:cNvSpPr txBox="1"/>
            <p:nvPr/>
          </p:nvSpPr>
          <p:spPr>
            <a:xfrm>
              <a:off x="9451720" y="74939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421BE29-4784-4F96-8ABB-AC13CC236C04}"/>
              </a:ext>
            </a:extLst>
          </p:cNvPr>
          <p:cNvSpPr/>
          <p:nvPr/>
        </p:nvSpPr>
        <p:spPr>
          <a:xfrm>
            <a:off x="1643063" y="1156179"/>
            <a:ext cx="8905873" cy="38100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B65FB84-9C5A-4A6E-AEA4-6ABDC88FFEE5}"/>
              </a:ext>
            </a:extLst>
          </p:cNvPr>
          <p:cNvSpPr txBox="1"/>
          <p:nvPr/>
        </p:nvSpPr>
        <p:spPr>
          <a:xfrm>
            <a:off x="1617843" y="1187414"/>
            <a:ext cx="20658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Matriz de Riesgos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949904B-C126-4F5F-B12C-11C6B51D62FD}"/>
              </a:ext>
            </a:extLst>
          </p:cNvPr>
          <p:cNvSpPr txBox="1"/>
          <p:nvPr/>
        </p:nvSpPr>
        <p:spPr>
          <a:xfrm>
            <a:off x="2899529" y="1209186"/>
            <a:ext cx="2035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Nuevo análisis de riesgos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BAAF35D-6023-4A97-9594-4F20C4E2BEDA}"/>
              </a:ext>
            </a:extLst>
          </p:cNvPr>
          <p:cNvCxnSpPr>
            <a:cxnSpLocks/>
          </p:cNvCxnSpPr>
          <p:nvPr/>
        </p:nvCxnSpPr>
        <p:spPr>
          <a:xfrm flipH="1">
            <a:off x="2950646" y="1260877"/>
            <a:ext cx="98239" cy="181143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80C5BEE-AEFA-4E84-A642-8E17C00CA5A3}"/>
              </a:ext>
            </a:extLst>
          </p:cNvPr>
          <p:cNvSpPr/>
          <p:nvPr/>
        </p:nvSpPr>
        <p:spPr>
          <a:xfrm>
            <a:off x="1622154" y="1710845"/>
            <a:ext cx="5518875" cy="2844841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D8E5C064-0E61-4D90-B44D-7DF135F8FFD9}"/>
              </a:ext>
            </a:extLst>
          </p:cNvPr>
          <p:cNvSpPr/>
          <p:nvPr/>
        </p:nvSpPr>
        <p:spPr>
          <a:xfrm>
            <a:off x="2279621" y="2027243"/>
            <a:ext cx="4558615" cy="2016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176BE5E-1D23-4A41-8240-54CE83887DC7}"/>
              </a:ext>
            </a:extLst>
          </p:cNvPr>
          <p:cNvSpPr txBox="1"/>
          <p:nvPr/>
        </p:nvSpPr>
        <p:spPr>
          <a:xfrm>
            <a:off x="1651271" y="1994579"/>
            <a:ext cx="1119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Título: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401AB4B1-4FF3-48FD-8DFB-954533D07371}"/>
              </a:ext>
            </a:extLst>
          </p:cNvPr>
          <p:cNvSpPr/>
          <p:nvPr/>
        </p:nvSpPr>
        <p:spPr>
          <a:xfrm>
            <a:off x="2927370" y="2291644"/>
            <a:ext cx="3910866" cy="19316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CAFCD18-EE34-4A10-B836-750A23945EDC}"/>
              </a:ext>
            </a:extLst>
          </p:cNvPr>
          <p:cNvSpPr txBox="1"/>
          <p:nvPr/>
        </p:nvSpPr>
        <p:spPr>
          <a:xfrm>
            <a:off x="1651271" y="2261627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la empresa: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99EC77E5-B945-4C81-B6B7-B6CB8E1BA928}"/>
              </a:ext>
            </a:extLst>
          </p:cNvPr>
          <p:cNvSpPr/>
          <p:nvPr/>
        </p:nvSpPr>
        <p:spPr>
          <a:xfrm>
            <a:off x="2279622" y="2588919"/>
            <a:ext cx="4571862" cy="1956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B103EB5D-A4AD-453C-8DC9-1B443A47E146}"/>
              </a:ext>
            </a:extLst>
          </p:cNvPr>
          <p:cNvSpPr txBox="1"/>
          <p:nvPr/>
        </p:nvSpPr>
        <p:spPr>
          <a:xfrm>
            <a:off x="1628735" y="2540766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Proceso :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9EF5F2C-56B7-4B03-92A3-3AA25335DF1B}"/>
              </a:ext>
            </a:extLst>
          </p:cNvPr>
          <p:cNvSpPr/>
          <p:nvPr/>
        </p:nvSpPr>
        <p:spPr>
          <a:xfrm>
            <a:off x="2927370" y="2897294"/>
            <a:ext cx="3922461" cy="2915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0FF45DA-0706-47FF-B65A-4CB67F1E70D5}"/>
              </a:ext>
            </a:extLst>
          </p:cNvPr>
          <p:cNvSpPr txBox="1"/>
          <p:nvPr/>
        </p:nvSpPr>
        <p:spPr>
          <a:xfrm>
            <a:off x="1634246" y="290338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Detalle del Riesgo: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BED1FA53-4ED6-4D6E-9E29-3C82CE78ED67}"/>
              </a:ext>
            </a:extLst>
          </p:cNvPr>
          <p:cNvSpPr/>
          <p:nvPr/>
        </p:nvSpPr>
        <p:spPr>
          <a:xfrm>
            <a:off x="2279621" y="3233965"/>
            <a:ext cx="4566635" cy="2179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8D08688-63B9-4AFA-BF34-491555B343F9}"/>
              </a:ext>
            </a:extLst>
          </p:cNvPr>
          <p:cNvSpPr txBox="1"/>
          <p:nvPr/>
        </p:nvSpPr>
        <p:spPr>
          <a:xfrm>
            <a:off x="1643059" y="320989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Factor :</a:t>
            </a:r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666ED6E0-4B92-4D38-A142-D3B753A520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29595" y="2297349"/>
            <a:ext cx="203700" cy="214511"/>
          </a:xfrm>
          <a:prstGeom prst="rect">
            <a:avLst/>
          </a:prstGeom>
        </p:spPr>
      </p:pic>
      <p:sp>
        <p:nvSpPr>
          <p:cNvPr id="71" name="Rectángulo 70">
            <a:extLst>
              <a:ext uri="{FF2B5EF4-FFF2-40B4-BE49-F238E27FC236}">
                <a16:creationId xmlns:a16="http://schemas.microsoft.com/office/drawing/2014/main" id="{1C2A8052-2FE1-4F33-8ECE-818C8EB645F2}"/>
              </a:ext>
            </a:extLst>
          </p:cNvPr>
          <p:cNvSpPr/>
          <p:nvPr/>
        </p:nvSpPr>
        <p:spPr>
          <a:xfrm>
            <a:off x="2496296" y="3506672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03DEC1B0-6B87-4128-ADCA-9979D56E4526}"/>
              </a:ext>
            </a:extLst>
          </p:cNvPr>
          <p:cNvSpPr txBox="1"/>
          <p:nvPr/>
        </p:nvSpPr>
        <p:spPr>
          <a:xfrm>
            <a:off x="4247210" y="3513172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Impacto estimado S/: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FE9F755C-D56F-440F-B1FA-249A9FE5AB40}"/>
              </a:ext>
            </a:extLst>
          </p:cNvPr>
          <p:cNvSpPr/>
          <p:nvPr/>
        </p:nvSpPr>
        <p:spPr>
          <a:xfrm>
            <a:off x="5594387" y="3522012"/>
            <a:ext cx="1238908" cy="24512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C274E52-0605-4A1F-8EB6-C20DE3B17E3F}"/>
              </a:ext>
            </a:extLst>
          </p:cNvPr>
          <p:cNvSpPr txBox="1"/>
          <p:nvPr/>
        </p:nvSpPr>
        <p:spPr>
          <a:xfrm>
            <a:off x="1643059" y="347858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Probabilidad: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56F27C47-C61B-4451-8844-0E3ADDA4B368}"/>
              </a:ext>
            </a:extLst>
          </p:cNvPr>
          <p:cNvSpPr/>
          <p:nvPr/>
        </p:nvSpPr>
        <p:spPr>
          <a:xfrm>
            <a:off x="1679087" y="4164333"/>
            <a:ext cx="5178912" cy="28731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BF954D3-0AB8-4DF5-9768-4B8A39E0189C}"/>
              </a:ext>
            </a:extLst>
          </p:cNvPr>
          <p:cNvSpPr txBox="1"/>
          <p:nvPr/>
        </p:nvSpPr>
        <p:spPr>
          <a:xfrm>
            <a:off x="1636537" y="3931064"/>
            <a:ext cx="2522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Consecuencias del riesgo Inherente:</a:t>
            </a:r>
          </a:p>
        </p:txBody>
      </p:sp>
      <p:pic>
        <p:nvPicPr>
          <p:cNvPr id="87" name="Imagen 86">
            <a:extLst>
              <a:ext uri="{FF2B5EF4-FFF2-40B4-BE49-F238E27FC236}">
                <a16:creationId xmlns:a16="http://schemas.microsoft.com/office/drawing/2014/main" id="{76D7E21B-1EB3-43D9-B3BE-65FBD0EAA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283" y="1708522"/>
            <a:ext cx="379576" cy="323573"/>
          </a:xfrm>
          <a:prstGeom prst="rect">
            <a:avLst/>
          </a:prstGeom>
        </p:spPr>
      </p:pic>
      <p:pic>
        <p:nvPicPr>
          <p:cNvPr id="89" name="Imagen 88">
            <a:extLst>
              <a:ext uri="{FF2B5EF4-FFF2-40B4-BE49-F238E27FC236}">
                <a16:creationId xmlns:a16="http://schemas.microsoft.com/office/drawing/2014/main" id="{5860FFBF-AA69-4E76-A5EB-AA93A168D2E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r="34821" b="-13882"/>
          <a:stretch/>
        </p:blipFill>
        <p:spPr>
          <a:xfrm>
            <a:off x="8544570" y="1798965"/>
            <a:ext cx="1477712" cy="289749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5FF613F8-40CB-49A9-9BEB-6F92C67E7E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50877" y="2582326"/>
            <a:ext cx="203700" cy="214511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81AA0E3B-CF86-40FA-9B12-7E4065A4934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43414" y="3242900"/>
            <a:ext cx="203700" cy="214511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14115CC2-EDDA-41A4-AB9E-3F22F7E30F9A}"/>
              </a:ext>
            </a:extLst>
          </p:cNvPr>
          <p:cNvSpPr txBox="1"/>
          <p:nvPr/>
        </p:nvSpPr>
        <p:spPr>
          <a:xfrm>
            <a:off x="1650249" y="1710326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RIESGO INHERENTE:</a:t>
            </a:r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995236AB-9F5F-482A-8658-F7A75511BA0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3963751" y="3509739"/>
            <a:ext cx="203700" cy="214511"/>
          </a:xfrm>
          <a:prstGeom prst="rect">
            <a:avLst/>
          </a:prstGeom>
        </p:spPr>
      </p:pic>
      <p:sp>
        <p:nvSpPr>
          <p:cNvPr id="60" name="CuadroTexto 59">
            <a:extLst>
              <a:ext uri="{FF2B5EF4-FFF2-40B4-BE49-F238E27FC236}">
                <a16:creationId xmlns:a16="http://schemas.microsoft.com/office/drawing/2014/main" id="{E0D14D42-0F71-4F17-93FB-D787A266AF06}"/>
              </a:ext>
            </a:extLst>
          </p:cNvPr>
          <p:cNvSpPr txBox="1"/>
          <p:nvPr/>
        </p:nvSpPr>
        <p:spPr>
          <a:xfrm>
            <a:off x="3424323" y="3702392"/>
            <a:ext cx="763455" cy="26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Alta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0C411F6-19AE-4F9D-9C64-C98359FB80D9}"/>
              </a:ext>
            </a:extLst>
          </p:cNvPr>
          <p:cNvSpPr txBox="1"/>
          <p:nvPr/>
        </p:nvSpPr>
        <p:spPr>
          <a:xfrm>
            <a:off x="6153207" y="3729935"/>
            <a:ext cx="763455" cy="26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Menor</a:t>
            </a:r>
          </a:p>
        </p:txBody>
      </p: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1DA040C2-F23D-4ED7-83AA-EFE0547C3ABA}"/>
              </a:ext>
            </a:extLst>
          </p:cNvPr>
          <p:cNvCxnSpPr>
            <a:cxnSpLocks/>
          </p:cNvCxnSpPr>
          <p:nvPr/>
        </p:nvCxnSpPr>
        <p:spPr>
          <a:xfrm flipH="1" flipV="1">
            <a:off x="3263005" y="3902871"/>
            <a:ext cx="688919" cy="474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363E1835-278B-4C99-82F4-CE48DB5F5387}"/>
              </a:ext>
            </a:extLst>
          </p:cNvPr>
          <p:cNvCxnSpPr>
            <a:cxnSpLocks/>
          </p:cNvCxnSpPr>
          <p:nvPr/>
        </p:nvCxnSpPr>
        <p:spPr>
          <a:xfrm flipH="1" flipV="1">
            <a:off x="6098902" y="3939525"/>
            <a:ext cx="688919" cy="474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ángulo 94">
            <a:extLst>
              <a:ext uri="{FF2B5EF4-FFF2-40B4-BE49-F238E27FC236}">
                <a16:creationId xmlns:a16="http://schemas.microsoft.com/office/drawing/2014/main" id="{B60F241D-036E-4B55-9AB5-5207D23F9E84}"/>
              </a:ext>
            </a:extLst>
          </p:cNvPr>
          <p:cNvSpPr/>
          <p:nvPr/>
        </p:nvSpPr>
        <p:spPr>
          <a:xfrm>
            <a:off x="1617843" y="4671733"/>
            <a:ext cx="5518875" cy="2393922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100A0BA7-49C1-411F-9F93-731929BD4350}"/>
              </a:ext>
            </a:extLst>
          </p:cNvPr>
          <p:cNvSpPr/>
          <p:nvPr/>
        </p:nvSpPr>
        <p:spPr>
          <a:xfrm>
            <a:off x="3118621" y="4960911"/>
            <a:ext cx="3715304" cy="22890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3C44EB7F-8C12-4A33-A88E-CD4478C591C7}"/>
              </a:ext>
            </a:extLst>
          </p:cNvPr>
          <p:cNvSpPr txBox="1"/>
          <p:nvPr/>
        </p:nvSpPr>
        <p:spPr>
          <a:xfrm>
            <a:off x="1646960" y="4955467"/>
            <a:ext cx="162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Descripción del Control: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CEF18AAE-921C-4E97-8E81-1FA7BFDD7F8D}"/>
              </a:ext>
            </a:extLst>
          </p:cNvPr>
          <p:cNvSpPr/>
          <p:nvPr/>
        </p:nvSpPr>
        <p:spPr>
          <a:xfrm>
            <a:off x="2923059" y="5252532"/>
            <a:ext cx="3910866" cy="24493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7E1F78DC-089A-4BF0-8A7C-DD46528F88F8}"/>
              </a:ext>
            </a:extLst>
          </p:cNvPr>
          <p:cNvSpPr txBox="1"/>
          <p:nvPr/>
        </p:nvSpPr>
        <p:spPr>
          <a:xfrm>
            <a:off x="1646960" y="522251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Documento Fuente: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2CAB652D-0BA4-4FE1-B79D-450A58B9944D}"/>
              </a:ext>
            </a:extLst>
          </p:cNvPr>
          <p:cNvSpPr/>
          <p:nvPr/>
        </p:nvSpPr>
        <p:spPr>
          <a:xfrm>
            <a:off x="2923059" y="5584302"/>
            <a:ext cx="3924113" cy="1957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2DC7186-8D5F-441B-816B-9328BDE9C7C9}"/>
              </a:ext>
            </a:extLst>
          </p:cNvPr>
          <p:cNvSpPr txBox="1"/>
          <p:nvPr/>
        </p:nvSpPr>
        <p:spPr>
          <a:xfrm>
            <a:off x="1624424" y="5534312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ejecución:</a:t>
            </a:r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3637D1F1-3989-4323-80A2-DD3605FF53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46566" y="5564986"/>
            <a:ext cx="203700" cy="214511"/>
          </a:xfrm>
          <a:prstGeom prst="rect">
            <a:avLst/>
          </a:prstGeom>
        </p:spPr>
      </p:pic>
      <p:sp>
        <p:nvSpPr>
          <p:cNvPr id="119" name="CuadroTexto 118">
            <a:extLst>
              <a:ext uri="{FF2B5EF4-FFF2-40B4-BE49-F238E27FC236}">
                <a16:creationId xmlns:a16="http://schemas.microsoft.com/office/drawing/2014/main" id="{CC168F71-DC25-4D71-8346-247F1D353D19}"/>
              </a:ext>
            </a:extLst>
          </p:cNvPr>
          <p:cNvSpPr txBox="1"/>
          <p:nvPr/>
        </p:nvSpPr>
        <p:spPr>
          <a:xfrm>
            <a:off x="1645937" y="4671214"/>
            <a:ext cx="230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 DE CONTROLES: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B9071D6-652C-405B-80C8-3A9CF6199DCC}"/>
              </a:ext>
            </a:extLst>
          </p:cNvPr>
          <p:cNvSpPr txBox="1"/>
          <p:nvPr/>
        </p:nvSpPr>
        <p:spPr>
          <a:xfrm>
            <a:off x="1645937" y="5859953"/>
            <a:ext cx="230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DISEÑO Y EJECUCIÓN: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AF1331FE-65E5-4473-A640-9E31677ABB07}"/>
              </a:ext>
            </a:extLst>
          </p:cNvPr>
          <p:cNvSpPr/>
          <p:nvPr/>
        </p:nvSpPr>
        <p:spPr>
          <a:xfrm>
            <a:off x="2493307" y="6121563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40F026A-476B-41B1-93EF-13E440DA6524}"/>
              </a:ext>
            </a:extLst>
          </p:cNvPr>
          <p:cNvSpPr txBox="1"/>
          <p:nvPr/>
        </p:nvSpPr>
        <p:spPr>
          <a:xfrm>
            <a:off x="1640070" y="6093476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Periodicidad:</a:t>
            </a:r>
          </a:p>
        </p:txBody>
      </p:sp>
      <p:pic>
        <p:nvPicPr>
          <p:cNvPr id="74" name="Imagen 73">
            <a:extLst>
              <a:ext uri="{FF2B5EF4-FFF2-40B4-BE49-F238E27FC236}">
                <a16:creationId xmlns:a16="http://schemas.microsoft.com/office/drawing/2014/main" id="{82559A6B-0045-4EF9-822B-185E8C3303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3960762" y="6124630"/>
            <a:ext cx="203700" cy="214511"/>
          </a:xfrm>
          <a:prstGeom prst="rect">
            <a:avLst/>
          </a:prstGeom>
        </p:spPr>
      </p:pic>
      <p:sp>
        <p:nvSpPr>
          <p:cNvPr id="76" name="Rectángulo 75">
            <a:extLst>
              <a:ext uri="{FF2B5EF4-FFF2-40B4-BE49-F238E27FC236}">
                <a16:creationId xmlns:a16="http://schemas.microsoft.com/office/drawing/2014/main" id="{AD6526C8-E0F2-4703-AE08-189A5973B8A0}"/>
              </a:ext>
            </a:extLst>
          </p:cNvPr>
          <p:cNvSpPr/>
          <p:nvPr/>
        </p:nvSpPr>
        <p:spPr>
          <a:xfrm>
            <a:off x="5163573" y="6134184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E25D8993-E47A-48C2-BE28-190490740567}"/>
              </a:ext>
            </a:extLst>
          </p:cNvPr>
          <p:cNvSpPr txBox="1"/>
          <p:nvPr/>
        </p:nvSpPr>
        <p:spPr>
          <a:xfrm>
            <a:off x="4288564" y="6106097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Operatividad: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51D78420-B23D-4846-8547-E7E5C2308A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31028" y="6137251"/>
            <a:ext cx="203700" cy="214511"/>
          </a:xfrm>
          <a:prstGeom prst="rect">
            <a:avLst/>
          </a:prstGeom>
        </p:spPr>
      </p:pic>
      <p:sp>
        <p:nvSpPr>
          <p:cNvPr id="134" name="Rectángulo 133">
            <a:extLst>
              <a:ext uri="{FF2B5EF4-FFF2-40B4-BE49-F238E27FC236}">
                <a16:creationId xmlns:a16="http://schemas.microsoft.com/office/drawing/2014/main" id="{82D1E3E6-0AEE-437F-A3C3-2C027CBF0D60}"/>
              </a:ext>
            </a:extLst>
          </p:cNvPr>
          <p:cNvSpPr/>
          <p:nvPr/>
        </p:nvSpPr>
        <p:spPr>
          <a:xfrm>
            <a:off x="2644140" y="6433617"/>
            <a:ext cx="1529770" cy="21451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7ECA7E43-E876-4469-9881-0B094B5B9FDE}"/>
              </a:ext>
            </a:extLst>
          </p:cNvPr>
          <p:cNvSpPr txBox="1"/>
          <p:nvPr/>
        </p:nvSpPr>
        <p:spPr>
          <a:xfrm>
            <a:off x="1640066" y="640916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control:</a:t>
            </a:r>
          </a:p>
        </p:txBody>
      </p:sp>
      <p:pic>
        <p:nvPicPr>
          <p:cNvPr id="138" name="Imagen 137">
            <a:extLst>
              <a:ext uri="{FF2B5EF4-FFF2-40B4-BE49-F238E27FC236}">
                <a16:creationId xmlns:a16="http://schemas.microsoft.com/office/drawing/2014/main" id="{D9463FAA-7C4E-41E0-B779-24E60C0688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3971644" y="6429434"/>
            <a:ext cx="203700" cy="214511"/>
          </a:xfrm>
          <a:prstGeom prst="rect">
            <a:avLst/>
          </a:prstGeom>
        </p:spPr>
      </p:pic>
      <p:sp>
        <p:nvSpPr>
          <p:cNvPr id="140" name="Rectángulo 139">
            <a:extLst>
              <a:ext uri="{FF2B5EF4-FFF2-40B4-BE49-F238E27FC236}">
                <a16:creationId xmlns:a16="http://schemas.microsoft.com/office/drawing/2014/main" id="{A359010C-1DD7-4F20-93DB-B21BE4AF3EFE}"/>
              </a:ext>
            </a:extLst>
          </p:cNvPr>
          <p:cNvSpPr/>
          <p:nvPr/>
        </p:nvSpPr>
        <p:spPr>
          <a:xfrm>
            <a:off x="5174455" y="6438988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88ED388F-6859-4602-9845-0A86479EB9F4}"/>
              </a:ext>
            </a:extLst>
          </p:cNvPr>
          <p:cNvSpPr txBox="1"/>
          <p:nvPr/>
        </p:nvSpPr>
        <p:spPr>
          <a:xfrm>
            <a:off x="4299446" y="6410901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Supervisión:</a:t>
            </a:r>
          </a:p>
        </p:txBody>
      </p:sp>
      <p:pic>
        <p:nvPicPr>
          <p:cNvPr id="144" name="Imagen 143">
            <a:extLst>
              <a:ext uri="{FF2B5EF4-FFF2-40B4-BE49-F238E27FC236}">
                <a16:creationId xmlns:a16="http://schemas.microsoft.com/office/drawing/2014/main" id="{1DE8BD46-CFC4-4610-90D6-6713B3CD65C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41910" y="6442055"/>
            <a:ext cx="203700" cy="214511"/>
          </a:xfrm>
          <a:prstGeom prst="rect">
            <a:avLst/>
          </a:prstGeom>
        </p:spPr>
      </p:pic>
      <p:sp>
        <p:nvSpPr>
          <p:cNvPr id="146" name="Rectángulo 145">
            <a:extLst>
              <a:ext uri="{FF2B5EF4-FFF2-40B4-BE49-F238E27FC236}">
                <a16:creationId xmlns:a16="http://schemas.microsoft.com/office/drawing/2014/main" id="{5E42A623-5738-471D-8E69-A132C5373E8D}"/>
              </a:ext>
            </a:extLst>
          </p:cNvPr>
          <p:cNvSpPr/>
          <p:nvPr/>
        </p:nvSpPr>
        <p:spPr>
          <a:xfrm>
            <a:off x="3574016" y="6751118"/>
            <a:ext cx="612594" cy="21032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FF68B652-AF24-4EE7-9ED4-4AB3A5BF2AB2}"/>
              </a:ext>
            </a:extLst>
          </p:cNvPr>
          <p:cNvSpPr txBox="1"/>
          <p:nvPr/>
        </p:nvSpPr>
        <p:spPr>
          <a:xfrm>
            <a:off x="1652765" y="6726665"/>
            <a:ext cx="2222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Frecuencia oportuna de control:</a:t>
            </a:r>
          </a:p>
        </p:txBody>
      </p:sp>
      <p:pic>
        <p:nvPicPr>
          <p:cNvPr id="150" name="Imagen 149">
            <a:extLst>
              <a:ext uri="{FF2B5EF4-FFF2-40B4-BE49-F238E27FC236}">
                <a16:creationId xmlns:a16="http://schemas.microsoft.com/office/drawing/2014/main" id="{D2B1B7EE-35EF-47E2-8978-47F1637D784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3984344" y="6746934"/>
            <a:ext cx="203700" cy="214511"/>
          </a:xfrm>
          <a:prstGeom prst="rect">
            <a:avLst/>
          </a:prstGeom>
        </p:spPr>
      </p:pic>
      <p:sp>
        <p:nvSpPr>
          <p:cNvPr id="152" name="Rectángulo 151">
            <a:extLst>
              <a:ext uri="{FF2B5EF4-FFF2-40B4-BE49-F238E27FC236}">
                <a16:creationId xmlns:a16="http://schemas.microsoft.com/office/drawing/2014/main" id="{A0125A8E-693B-4050-A0BB-4C1D73F540EA}"/>
              </a:ext>
            </a:extLst>
          </p:cNvPr>
          <p:cNvSpPr/>
          <p:nvPr/>
        </p:nvSpPr>
        <p:spPr>
          <a:xfrm>
            <a:off x="5851543" y="6746934"/>
            <a:ext cx="1005333" cy="231316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93D41A02-35BB-418B-9253-8BB19F2022CA}"/>
              </a:ext>
            </a:extLst>
          </p:cNvPr>
          <p:cNvSpPr txBox="1"/>
          <p:nvPr/>
        </p:nvSpPr>
        <p:spPr>
          <a:xfrm>
            <a:off x="4312146" y="6728401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Seguimiento adecuado:</a:t>
            </a:r>
          </a:p>
        </p:txBody>
      </p:sp>
      <p:pic>
        <p:nvPicPr>
          <p:cNvPr id="156" name="Imagen 155">
            <a:extLst>
              <a:ext uri="{FF2B5EF4-FFF2-40B4-BE49-F238E27FC236}">
                <a16:creationId xmlns:a16="http://schemas.microsoft.com/office/drawing/2014/main" id="{33D9A8CE-E1E0-4F59-8923-1483E5F50D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6654610" y="6759555"/>
            <a:ext cx="203700" cy="214511"/>
          </a:xfrm>
          <a:prstGeom prst="rect">
            <a:avLst/>
          </a:prstGeom>
        </p:spPr>
      </p:pic>
      <p:pic>
        <p:nvPicPr>
          <p:cNvPr id="160" name="Imagen 159">
            <a:extLst>
              <a:ext uri="{FF2B5EF4-FFF2-40B4-BE49-F238E27FC236}">
                <a16:creationId xmlns:a16="http://schemas.microsoft.com/office/drawing/2014/main" id="{CB42E316-3F04-46B1-A31E-D566031320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4694" y="2196272"/>
            <a:ext cx="3358680" cy="2330784"/>
          </a:xfrm>
          <a:prstGeom prst="rect">
            <a:avLst/>
          </a:prstGeom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D86AB0FF-6F3A-40F5-AD4B-401460E434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1549" y="4722014"/>
            <a:ext cx="3345243" cy="2339811"/>
          </a:xfrm>
          <a:prstGeom prst="rect">
            <a:avLst/>
          </a:prstGeom>
        </p:spPr>
      </p:pic>
      <p:sp>
        <p:nvSpPr>
          <p:cNvPr id="164" name="Rectángulo 163">
            <a:extLst>
              <a:ext uri="{FF2B5EF4-FFF2-40B4-BE49-F238E27FC236}">
                <a16:creationId xmlns:a16="http://schemas.microsoft.com/office/drawing/2014/main" id="{4B088EC4-0588-4966-A6D8-55A786A31A11}"/>
              </a:ext>
            </a:extLst>
          </p:cNvPr>
          <p:cNvSpPr/>
          <p:nvPr/>
        </p:nvSpPr>
        <p:spPr>
          <a:xfrm>
            <a:off x="1617842" y="7214797"/>
            <a:ext cx="8977823" cy="106532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2" name="Rectángulo 181">
            <a:extLst>
              <a:ext uri="{FF2B5EF4-FFF2-40B4-BE49-F238E27FC236}">
                <a16:creationId xmlns:a16="http://schemas.microsoft.com/office/drawing/2014/main" id="{57E6C9C5-6BB2-4831-8260-C5969121DBC2}"/>
              </a:ext>
            </a:extLst>
          </p:cNvPr>
          <p:cNvSpPr/>
          <p:nvPr/>
        </p:nvSpPr>
        <p:spPr>
          <a:xfrm>
            <a:off x="3118622" y="7538691"/>
            <a:ext cx="7122548" cy="28986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C9DFB695-1F25-4A74-9FA5-9B159997CEB7}"/>
              </a:ext>
            </a:extLst>
          </p:cNvPr>
          <p:cNvSpPr txBox="1"/>
          <p:nvPr/>
        </p:nvSpPr>
        <p:spPr>
          <a:xfrm>
            <a:off x="1799360" y="7561507"/>
            <a:ext cx="162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 de acción:</a:t>
            </a:r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2870A6BF-E4A2-4DAE-8928-F4C6AA12BC56}"/>
              </a:ext>
            </a:extLst>
          </p:cNvPr>
          <p:cNvSpPr/>
          <p:nvPr/>
        </p:nvSpPr>
        <p:spPr>
          <a:xfrm>
            <a:off x="3118621" y="7933002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39BA4724-35E6-4F81-9FD1-6306A14692A3}"/>
              </a:ext>
            </a:extLst>
          </p:cNvPr>
          <p:cNvSpPr txBox="1"/>
          <p:nvPr/>
        </p:nvSpPr>
        <p:spPr>
          <a:xfrm>
            <a:off x="1798337" y="7866819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responsable:</a:t>
            </a:r>
          </a:p>
        </p:txBody>
      </p:sp>
      <p:pic>
        <p:nvPicPr>
          <p:cNvPr id="194" name="Imagen 193">
            <a:extLst>
              <a:ext uri="{FF2B5EF4-FFF2-40B4-BE49-F238E27FC236}">
                <a16:creationId xmlns:a16="http://schemas.microsoft.com/office/drawing/2014/main" id="{2CE4EF4C-D356-4113-B070-B2C90C31CB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4405462" y="7927530"/>
            <a:ext cx="203700" cy="214511"/>
          </a:xfrm>
          <a:prstGeom prst="rect">
            <a:avLst/>
          </a:prstGeom>
        </p:spPr>
      </p:pic>
      <p:sp>
        <p:nvSpPr>
          <p:cNvPr id="196" name="CuadroTexto 195">
            <a:extLst>
              <a:ext uri="{FF2B5EF4-FFF2-40B4-BE49-F238E27FC236}">
                <a16:creationId xmlns:a16="http://schemas.microsoft.com/office/drawing/2014/main" id="{65B0BE5B-51D8-4FC0-811C-BD6D5CF02FCC}"/>
              </a:ext>
            </a:extLst>
          </p:cNvPr>
          <p:cNvSpPr txBox="1"/>
          <p:nvPr/>
        </p:nvSpPr>
        <p:spPr>
          <a:xfrm>
            <a:off x="1798337" y="7272174"/>
            <a:ext cx="3365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TRATAMIENTO E IMPLEMENTACIÓN:</a:t>
            </a:r>
          </a:p>
        </p:txBody>
      </p:sp>
      <p:sp>
        <p:nvSpPr>
          <p:cNvPr id="198" name="Rectángulo 197">
            <a:extLst>
              <a:ext uri="{FF2B5EF4-FFF2-40B4-BE49-F238E27FC236}">
                <a16:creationId xmlns:a16="http://schemas.microsoft.com/office/drawing/2014/main" id="{3D892A57-EB2C-4F23-99F2-1923F100DAF6}"/>
              </a:ext>
            </a:extLst>
          </p:cNvPr>
          <p:cNvSpPr/>
          <p:nvPr/>
        </p:nvSpPr>
        <p:spPr>
          <a:xfrm>
            <a:off x="5769311" y="7946610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78387948-F8A5-4BBD-9723-08BBB44E2984}"/>
              </a:ext>
            </a:extLst>
          </p:cNvPr>
          <p:cNvSpPr txBox="1"/>
          <p:nvPr/>
        </p:nvSpPr>
        <p:spPr>
          <a:xfrm>
            <a:off x="4772015" y="7897742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de inicio:</a:t>
            </a:r>
          </a:p>
        </p:txBody>
      </p:sp>
      <p:pic>
        <p:nvPicPr>
          <p:cNvPr id="202" name="Imagen 201">
            <a:extLst>
              <a:ext uri="{FF2B5EF4-FFF2-40B4-BE49-F238E27FC236}">
                <a16:creationId xmlns:a16="http://schemas.microsoft.com/office/drawing/2014/main" id="{4D077BAA-4698-4AD2-9620-0AD3BF6BA7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7075460" y="7957220"/>
            <a:ext cx="203700" cy="214511"/>
          </a:xfrm>
          <a:prstGeom prst="rect">
            <a:avLst/>
          </a:prstGeom>
        </p:spPr>
      </p:pic>
      <p:sp>
        <p:nvSpPr>
          <p:cNvPr id="204" name="Rectángulo 203">
            <a:extLst>
              <a:ext uri="{FF2B5EF4-FFF2-40B4-BE49-F238E27FC236}">
                <a16:creationId xmlns:a16="http://schemas.microsoft.com/office/drawing/2014/main" id="{1B17CB4B-7DAE-4F8E-B7E9-FCE7CD5E727C}"/>
              </a:ext>
            </a:extLst>
          </p:cNvPr>
          <p:cNvSpPr/>
          <p:nvPr/>
        </p:nvSpPr>
        <p:spPr>
          <a:xfrm>
            <a:off x="8434557" y="7962400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0C788408-FC4B-4A6A-817B-D09681931E6D}"/>
              </a:ext>
            </a:extLst>
          </p:cNvPr>
          <p:cNvSpPr txBox="1"/>
          <p:nvPr/>
        </p:nvSpPr>
        <p:spPr>
          <a:xfrm>
            <a:off x="7662416" y="791151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fin:</a:t>
            </a:r>
          </a:p>
        </p:txBody>
      </p:sp>
      <p:pic>
        <p:nvPicPr>
          <p:cNvPr id="208" name="Imagen 207">
            <a:extLst>
              <a:ext uri="{FF2B5EF4-FFF2-40B4-BE49-F238E27FC236}">
                <a16:creationId xmlns:a16="http://schemas.microsoft.com/office/drawing/2014/main" id="{8EF3CD4F-8DFB-4D91-915A-F3515F8617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129" t="20737" r="33839" b="28682"/>
          <a:stretch/>
        </p:blipFill>
        <p:spPr>
          <a:xfrm>
            <a:off x="9752354" y="7941158"/>
            <a:ext cx="203700" cy="214511"/>
          </a:xfrm>
          <a:prstGeom prst="rect">
            <a:avLst/>
          </a:prstGeom>
        </p:spPr>
      </p:pic>
      <p:sp>
        <p:nvSpPr>
          <p:cNvPr id="210" name="Rectángulo 209">
            <a:extLst>
              <a:ext uri="{FF2B5EF4-FFF2-40B4-BE49-F238E27FC236}">
                <a16:creationId xmlns:a16="http://schemas.microsoft.com/office/drawing/2014/main" id="{9BC61A3E-DD74-420B-BDEA-6CF8FB0B5A76}"/>
              </a:ext>
            </a:extLst>
          </p:cNvPr>
          <p:cNvSpPr/>
          <p:nvPr/>
        </p:nvSpPr>
        <p:spPr>
          <a:xfrm>
            <a:off x="1487694" y="8372391"/>
            <a:ext cx="9216611" cy="499730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82C32528-F908-4AD0-B4A6-C43F95EDB7F1}"/>
              </a:ext>
            </a:extLst>
          </p:cNvPr>
          <p:cNvSpPr txBox="1"/>
          <p:nvPr/>
        </p:nvSpPr>
        <p:spPr>
          <a:xfrm>
            <a:off x="1874516" y="8632889"/>
            <a:ext cx="45510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Copyright © 2020 Conoce Capacitación Empresarial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16" name="Picture 2" descr="Conoce Capacitación Empresarial">
            <a:extLst>
              <a:ext uri="{FF2B5EF4-FFF2-40B4-BE49-F238E27FC236}">
                <a16:creationId xmlns:a16="http://schemas.microsoft.com/office/drawing/2014/main" id="{14F23E04-EE86-4679-876E-D0DEFDF61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878" y="8454351"/>
            <a:ext cx="746709" cy="39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3" name="CuadroTexto 222">
            <a:extLst>
              <a:ext uri="{FF2B5EF4-FFF2-40B4-BE49-F238E27FC236}">
                <a16:creationId xmlns:a16="http://schemas.microsoft.com/office/drawing/2014/main" id="{D1FC3FBB-34C2-4B3F-8203-CB56B3732B04}"/>
              </a:ext>
            </a:extLst>
          </p:cNvPr>
          <p:cNvSpPr txBox="1"/>
          <p:nvPr/>
        </p:nvSpPr>
        <p:spPr>
          <a:xfrm>
            <a:off x="8032901" y="244091"/>
            <a:ext cx="2208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Universal: Marco Paredes</a:t>
            </a:r>
          </a:p>
        </p:txBody>
      </p:sp>
      <p:pic>
        <p:nvPicPr>
          <p:cNvPr id="225" name="Imagen 224">
            <a:extLst>
              <a:ext uri="{FF2B5EF4-FFF2-40B4-BE49-F238E27FC236}">
                <a16:creationId xmlns:a16="http://schemas.microsoft.com/office/drawing/2014/main" id="{E326B9C3-3B45-4BBA-BA89-01EB98867B0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29836"/>
          <a:stretch/>
        </p:blipFill>
        <p:spPr>
          <a:xfrm>
            <a:off x="10693419" y="-11926"/>
            <a:ext cx="184663" cy="8863826"/>
          </a:xfrm>
          <a:prstGeom prst="rect">
            <a:avLst/>
          </a:prstGeom>
        </p:spPr>
      </p:pic>
      <p:sp>
        <p:nvSpPr>
          <p:cNvPr id="226" name="CuadroTexto 225">
            <a:extLst>
              <a:ext uri="{FF2B5EF4-FFF2-40B4-BE49-F238E27FC236}">
                <a16:creationId xmlns:a16="http://schemas.microsoft.com/office/drawing/2014/main" id="{73B35FD4-322A-4475-82A0-AB65A05061DD}"/>
              </a:ext>
            </a:extLst>
          </p:cNvPr>
          <p:cNvSpPr txBox="1"/>
          <p:nvPr/>
        </p:nvSpPr>
        <p:spPr>
          <a:xfrm>
            <a:off x="468086" y="726192"/>
            <a:ext cx="576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>
                <a:solidFill>
                  <a:srgbClr val="FF0000"/>
                </a:solidFill>
              </a:rPr>
              <a:t>(3)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036AB541-1457-4AD0-AB48-FA04B077D9CD}"/>
              </a:ext>
            </a:extLst>
          </p:cNvPr>
          <p:cNvSpPr txBox="1"/>
          <p:nvPr/>
        </p:nvSpPr>
        <p:spPr>
          <a:xfrm>
            <a:off x="1859276" y="843247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9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BEADC81-C981-4E4F-A496-1CFD8C77AF75}"/>
              </a:ext>
            </a:extLst>
          </p:cNvPr>
          <p:cNvGrpSpPr/>
          <p:nvPr/>
        </p:nvGrpSpPr>
        <p:grpSpPr>
          <a:xfrm>
            <a:off x="1487694" y="0"/>
            <a:ext cx="9346266" cy="6858000"/>
            <a:chOff x="1487694" y="0"/>
            <a:chExt cx="9346266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40A4F93-1EF9-4721-8CF0-5D6633990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426BF4C-4D88-42E2-9628-43DAD64F1F33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B87F40D-3FC1-432E-8920-B2BA28DAD168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5139A50-821D-4328-B8DC-37962C150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435F9A26-5EB2-4E27-BFA6-343E19D575F7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5E30D5C-9D67-40F6-986C-32C7E3F16FF0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E443EDFB-B4B9-4452-9746-4BF92A45C78B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330521A-9A2D-4DE8-832B-D37BD5E8D752}"/>
                </a:ext>
              </a:extLst>
            </p:cNvPr>
            <p:cNvSpPr txBox="1"/>
            <p:nvPr/>
          </p:nvSpPr>
          <p:spPr>
            <a:xfrm>
              <a:off x="1860344" y="6423836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Calle las begonias 415 – Piso 11, San Isidro I capacitaciones@conoce.com.pe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76ADB6F4-F55B-442D-8599-2FFEC154EE29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6D47EFAF-ECC6-4D13-8BBD-A64FD41B4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16" name="Picture 2" descr="Conoce Capacitación Empresarial">
              <a:extLst>
                <a:ext uri="{FF2B5EF4-FFF2-40B4-BE49-F238E27FC236}">
                  <a16:creationId xmlns:a16="http://schemas.microsoft.com/office/drawing/2014/main" id="{9D2BD508-3F1D-4A61-981F-92A1195F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88C9824-D703-4EF7-B31F-1848BBA7691A}"/>
                </a:ext>
              </a:extLst>
            </p:cNvPr>
            <p:cNvSpPr txBox="1"/>
            <p:nvPr/>
          </p:nvSpPr>
          <p:spPr>
            <a:xfrm>
              <a:off x="1736381" y="74703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5B55C3E-9A11-4207-85AA-182CF139E0DC}"/>
                </a:ext>
              </a:extLst>
            </p:cNvPr>
            <p:cNvSpPr txBox="1"/>
            <p:nvPr/>
          </p:nvSpPr>
          <p:spPr>
            <a:xfrm>
              <a:off x="2909244" y="75005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Matriz de riesgo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7F20975-1D19-4461-AA58-9DCCA6C9F249}"/>
                </a:ext>
              </a:extLst>
            </p:cNvPr>
            <p:cNvSpPr txBox="1"/>
            <p:nvPr/>
          </p:nvSpPr>
          <p:spPr>
            <a:xfrm>
              <a:off x="4057578" y="753696"/>
              <a:ext cx="141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Scoring de riesgo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CDF47C9-56D8-4395-BB24-3F998BE86E2F}"/>
                </a:ext>
              </a:extLst>
            </p:cNvPr>
            <p:cNvSpPr txBox="1"/>
            <p:nvPr/>
          </p:nvSpPr>
          <p:spPr>
            <a:xfrm>
              <a:off x="5272419" y="747204"/>
              <a:ext cx="1687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51AD3F0-E1CF-4F3D-B90D-3CA550736E2C}"/>
                </a:ext>
              </a:extLst>
            </p:cNvPr>
            <p:cNvSpPr txBox="1"/>
            <p:nvPr/>
          </p:nvSpPr>
          <p:spPr>
            <a:xfrm>
              <a:off x="6979014" y="748857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Consulta de listas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2317DDA-84C0-4D1C-8B5A-B1F188A3258A}"/>
                </a:ext>
              </a:extLst>
            </p:cNvPr>
            <p:cNvSpPr txBox="1"/>
            <p:nvPr/>
          </p:nvSpPr>
          <p:spPr>
            <a:xfrm>
              <a:off x="8203032" y="75141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B158281-4C7D-477D-8783-C110DF5C6992}"/>
                </a:ext>
              </a:extLst>
            </p:cNvPr>
            <p:cNvSpPr txBox="1"/>
            <p:nvPr/>
          </p:nvSpPr>
          <p:spPr>
            <a:xfrm>
              <a:off x="9451720" y="74939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3BAAC2C1-7ED5-4B6C-9FEA-A30045E241BA}"/>
              </a:ext>
            </a:extLst>
          </p:cNvPr>
          <p:cNvSpPr txBox="1"/>
          <p:nvPr/>
        </p:nvSpPr>
        <p:spPr>
          <a:xfrm>
            <a:off x="468086" y="726192"/>
            <a:ext cx="576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500" b="1" dirty="0">
                <a:solidFill>
                  <a:srgbClr val="FF0000"/>
                </a:solidFill>
              </a:rPr>
              <a:t>(4)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4AF6914-122B-4787-B70C-F7C375A308D2}"/>
              </a:ext>
            </a:extLst>
          </p:cNvPr>
          <p:cNvSpPr/>
          <p:nvPr/>
        </p:nvSpPr>
        <p:spPr>
          <a:xfrm>
            <a:off x="1487694" y="6866522"/>
            <a:ext cx="9216611" cy="19973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0FCAC54-BB9B-4A9F-BD03-5F465F513456}"/>
              </a:ext>
            </a:extLst>
          </p:cNvPr>
          <p:cNvSpPr/>
          <p:nvPr/>
        </p:nvSpPr>
        <p:spPr>
          <a:xfrm>
            <a:off x="1622154" y="1710845"/>
            <a:ext cx="5518875" cy="2844841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19D53B0-388A-474E-9DC6-6FFB5FE32941}"/>
              </a:ext>
            </a:extLst>
          </p:cNvPr>
          <p:cNvSpPr/>
          <p:nvPr/>
        </p:nvSpPr>
        <p:spPr>
          <a:xfrm>
            <a:off x="2279621" y="2027243"/>
            <a:ext cx="4558615" cy="20168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ababababababbababababab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4561EC1-38F8-493B-96E6-BCAC2AF93007}"/>
              </a:ext>
            </a:extLst>
          </p:cNvPr>
          <p:cNvSpPr txBox="1"/>
          <p:nvPr/>
        </p:nvSpPr>
        <p:spPr>
          <a:xfrm>
            <a:off x="1651271" y="1994579"/>
            <a:ext cx="1119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Título: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438BB9CB-56B8-4DA6-8000-2CB32FE5EECB}"/>
              </a:ext>
            </a:extLst>
          </p:cNvPr>
          <p:cNvSpPr/>
          <p:nvPr/>
        </p:nvSpPr>
        <p:spPr>
          <a:xfrm>
            <a:off x="2927370" y="2291644"/>
            <a:ext cx="3910866" cy="19316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ababababababbababababab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A8898C8-4811-432C-9A2E-8A4E10FFD249}"/>
              </a:ext>
            </a:extLst>
          </p:cNvPr>
          <p:cNvSpPr txBox="1"/>
          <p:nvPr/>
        </p:nvSpPr>
        <p:spPr>
          <a:xfrm>
            <a:off x="1651271" y="2261627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la empresa: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5F258D3-780F-4CA6-AAD1-0C5723A59FB3}"/>
              </a:ext>
            </a:extLst>
          </p:cNvPr>
          <p:cNvSpPr/>
          <p:nvPr/>
        </p:nvSpPr>
        <p:spPr>
          <a:xfrm>
            <a:off x="2279622" y="2588919"/>
            <a:ext cx="4571862" cy="1956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ababababababbababababab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6CDF58D-FA3B-44E2-BD11-A1559CEBF020}"/>
              </a:ext>
            </a:extLst>
          </p:cNvPr>
          <p:cNvSpPr txBox="1"/>
          <p:nvPr/>
        </p:nvSpPr>
        <p:spPr>
          <a:xfrm>
            <a:off x="1628735" y="2540766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Proceso :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4B87C56-0171-4B4C-8670-2547E4E34A5F}"/>
              </a:ext>
            </a:extLst>
          </p:cNvPr>
          <p:cNvSpPr/>
          <p:nvPr/>
        </p:nvSpPr>
        <p:spPr>
          <a:xfrm>
            <a:off x="2927370" y="2897294"/>
            <a:ext cx="3922461" cy="29158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ababababababbababababab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4789439-14C0-472B-95C2-993628CD9835}"/>
              </a:ext>
            </a:extLst>
          </p:cNvPr>
          <p:cNvSpPr txBox="1"/>
          <p:nvPr/>
        </p:nvSpPr>
        <p:spPr>
          <a:xfrm>
            <a:off x="1634246" y="290338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Detalle del Riesgo: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5BD343F-C80F-4476-B001-1658CE014BEF}"/>
              </a:ext>
            </a:extLst>
          </p:cNvPr>
          <p:cNvSpPr/>
          <p:nvPr/>
        </p:nvSpPr>
        <p:spPr>
          <a:xfrm>
            <a:off x="2279621" y="3233965"/>
            <a:ext cx="4566635" cy="21796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ababababababbababababab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2DD84AB-6AB6-43D1-80E1-24521C15DBF9}"/>
              </a:ext>
            </a:extLst>
          </p:cNvPr>
          <p:cNvSpPr txBox="1"/>
          <p:nvPr/>
        </p:nvSpPr>
        <p:spPr>
          <a:xfrm>
            <a:off x="1643059" y="320989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Factor :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D012569-1DD0-456B-B115-91920530EE4E}"/>
              </a:ext>
            </a:extLst>
          </p:cNvPr>
          <p:cNvSpPr/>
          <p:nvPr/>
        </p:nvSpPr>
        <p:spPr>
          <a:xfrm>
            <a:off x="2496296" y="3506672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ababababbabaabab</a:t>
            </a:r>
            <a:endParaRPr lang="es-E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539C80D-378D-4A0D-80A7-8DA9EDD78546}"/>
              </a:ext>
            </a:extLst>
          </p:cNvPr>
          <p:cNvSpPr txBox="1"/>
          <p:nvPr/>
        </p:nvSpPr>
        <p:spPr>
          <a:xfrm>
            <a:off x="4247210" y="3513172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Impacto estimado S/: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823794A-970B-429E-A455-BEA63D767772}"/>
              </a:ext>
            </a:extLst>
          </p:cNvPr>
          <p:cNvSpPr/>
          <p:nvPr/>
        </p:nvSpPr>
        <p:spPr>
          <a:xfrm>
            <a:off x="5594387" y="3522012"/>
            <a:ext cx="1238908" cy="24512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</a:t>
            </a:r>
            <a:endParaRPr lang="es-ES" sz="12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731CD5E-DFE0-4F5F-BEFD-9DB063814053}"/>
              </a:ext>
            </a:extLst>
          </p:cNvPr>
          <p:cNvSpPr txBox="1"/>
          <p:nvPr/>
        </p:nvSpPr>
        <p:spPr>
          <a:xfrm>
            <a:off x="1643059" y="347858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Probabilidad: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3610F5D-B378-45DD-B257-174547D20A2D}"/>
              </a:ext>
            </a:extLst>
          </p:cNvPr>
          <p:cNvSpPr/>
          <p:nvPr/>
        </p:nvSpPr>
        <p:spPr>
          <a:xfrm>
            <a:off x="1679087" y="4164333"/>
            <a:ext cx="5178912" cy="28731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A901E1F-F5CE-4FC1-BCA9-73A26852BF2F}"/>
              </a:ext>
            </a:extLst>
          </p:cNvPr>
          <p:cNvSpPr txBox="1"/>
          <p:nvPr/>
        </p:nvSpPr>
        <p:spPr>
          <a:xfrm>
            <a:off x="1636537" y="3931064"/>
            <a:ext cx="2522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Consecuencias del riesgo Inherente: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3499A2A-BDB8-4A2A-933B-D6EDA7BD6112}"/>
              </a:ext>
            </a:extLst>
          </p:cNvPr>
          <p:cNvSpPr txBox="1"/>
          <p:nvPr/>
        </p:nvSpPr>
        <p:spPr>
          <a:xfrm>
            <a:off x="1650249" y="1710326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RIESGO INHERENTE: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3DBDC83-770E-4AB4-8DE3-BDD228AA5D31}"/>
              </a:ext>
            </a:extLst>
          </p:cNvPr>
          <p:cNvSpPr txBox="1"/>
          <p:nvPr/>
        </p:nvSpPr>
        <p:spPr>
          <a:xfrm>
            <a:off x="3424323" y="3702392"/>
            <a:ext cx="763455" cy="26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98302FF-A0F4-4E14-B594-47E4FFC344D1}"/>
              </a:ext>
            </a:extLst>
          </p:cNvPr>
          <p:cNvSpPr txBox="1"/>
          <p:nvPr/>
        </p:nvSpPr>
        <p:spPr>
          <a:xfrm>
            <a:off x="6153207" y="3729935"/>
            <a:ext cx="763455" cy="26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Menor</a:t>
            </a:r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408C3215-D6A1-4288-9CF7-D9BFF3F3C6FD}"/>
              </a:ext>
            </a:extLst>
          </p:cNvPr>
          <p:cNvCxnSpPr>
            <a:cxnSpLocks/>
          </p:cNvCxnSpPr>
          <p:nvPr/>
        </p:nvCxnSpPr>
        <p:spPr>
          <a:xfrm flipH="1" flipV="1">
            <a:off x="3263005" y="3902871"/>
            <a:ext cx="688919" cy="474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D60C55E0-653A-4D29-8CF4-548F34ED97B7}"/>
              </a:ext>
            </a:extLst>
          </p:cNvPr>
          <p:cNvCxnSpPr>
            <a:cxnSpLocks/>
          </p:cNvCxnSpPr>
          <p:nvPr/>
        </p:nvCxnSpPr>
        <p:spPr>
          <a:xfrm flipH="1" flipV="1">
            <a:off x="6098902" y="3939525"/>
            <a:ext cx="688919" cy="4747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69935E3-05D0-4129-B879-3CD0DB7DC864}"/>
              </a:ext>
            </a:extLst>
          </p:cNvPr>
          <p:cNvSpPr/>
          <p:nvPr/>
        </p:nvSpPr>
        <p:spPr>
          <a:xfrm>
            <a:off x="1617843" y="4671733"/>
            <a:ext cx="5518875" cy="2393922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52196AF2-9108-4970-AFFB-E221B74C8335}"/>
              </a:ext>
            </a:extLst>
          </p:cNvPr>
          <p:cNvSpPr/>
          <p:nvPr/>
        </p:nvSpPr>
        <p:spPr>
          <a:xfrm>
            <a:off x="3118621" y="4960911"/>
            <a:ext cx="3715304" cy="22890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E396C81E-27ED-4EA9-B605-FADD69B81E4D}"/>
              </a:ext>
            </a:extLst>
          </p:cNvPr>
          <p:cNvSpPr txBox="1"/>
          <p:nvPr/>
        </p:nvSpPr>
        <p:spPr>
          <a:xfrm>
            <a:off x="1646960" y="4955467"/>
            <a:ext cx="162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Descripción del Control: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AB76A5B8-232E-44A1-858A-5FDD6711E4C8}"/>
              </a:ext>
            </a:extLst>
          </p:cNvPr>
          <p:cNvSpPr/>
          <p:nvPr/>
        </p:nvSpPr>
        <p:spPr>
          <a:xfrm>
            <a:off x="2923059" y="5252532"/>
            <a:ext cx="3910866" cy="24493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3ED8F7A-E914-4F06-AD2C-1C7D0E166C78}"/>
              </a:ext>
            </a:extLst>
          </p:cNvPr>
          <p:cNvSpPr txBox="1"/>
          <p:nvPr/>
        </p:nvSpPr>
        <p:spPr>
          <a:xfrm>
            <a:off x="1646960" y="522251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Documento Fuente: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60737B11-43E2-4C9C-99CC-77ABB81E3F24}"/>
              </a:ext>
            </a:extLst>
          </p:cNvPr>
          <p:cNvSpPr/>
          <p:nvPr/>
        </p:nvSpPr>
        <p:spPr>
          <a:xfrm>
            <a:off x="2923059" y="5584302"/>
            <a:ext cx="3924113" cy="195797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DCEEC19-C15F-4AA1-AB87-402AA5A1C4A1}"/>
              </a:ext>
            </a:extLst>
          </p:cNvPr>
          <p:cNvSpPr txBox="1"/>
          <p:nvPr/>
        </p:nvSpPr>
        <p:spPr>
          <a:xfrm>
            <a:off x="1624424" y="5534312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ejecución: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0A07380-779E-4A99-94A8-C231C5AF9E9C}"/>
              </a:ext>
            </a:extLst>
          </p:cNvPr>
          <p:cNvSpPr txBox="1"/>
          <p:nvPr/>
        </p:nvSpPr>
        <p:spPr>
          <a:xfrm>
            <a:off x="1645937" y="4671214"/>
            <a:ext cx="230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IDENTIFICACIÓN DE CONTROLES: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BA60E6E-201C-4D60-AD1B-4E06446D0A15}"/>
              </a:ext>
            </a:extLst>
          </p:cNvPr>
          <p:cNvSpPr txBox="1"/>
          <p:nvPr/>
        </p:nvSpPr>
        <p:spPr>
          <a:xfrm>
            <a:off x="1645937" y="5859953"/>
            <a:ext cx="2301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DISEÑO Y EJECUCIÓN: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CA0A1CF6-9BA3-4C96-9CBF-E4227A755B98}"/>
              </a:ext>
            </a:extLst>
          </p:cNvPr>
          <p:cNvSpPr/>
          <p:nvPr/>
        </p:nvSpPr>
        <p:spPr>
          <a:xfrm>
            <a:off x="2493307" y="6121563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92F03B55-240E-4D1C-91F8-AC32D24D451C}"/>
              </a:ext>
            </a:extLst>
          </p:cNvPr>
          <p:cNvSpPr txBox="1"/>
          <p:nvPr/>
        </p:nvSpPr>
        <p:spPr>
          <a:xfrm>
            <a:off x="1640070" y="6093476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Periodicidad: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B6C8F17E-046C-4744-BD7E-2FB6EE437318}"/>
              </a:ext>
            </a:extLst>
          </p:cNvPr>
          <p:cNvSpPr/>
          <p:nvPr/>
        </p:nvSpPr>
        <p:spPr>
          <a:xfrm>
            <a:off x="5163573" y="6134184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783F790-43A9-4FAE-B8C7-E4FC73970EC4}"/>
              </a:ext>
            </a:extLst>
          </p:cNvPr>
          <p:cNvSpPr txBox="1"/>
          <p:nvPr/>
        </p:nvSpPr>
        <p:spPr>
          <a:xfrm>
            <a:off x="4288564" y="6106097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Operatividad: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2970AC2F-58EE-4E1B-B1C7-A0BA1225A4B3}"/>
              </a:ext>
            </a:extLst>
          </p:cNvPr>
          <p:cNvSpPr/>
          <p:nvPr/>
        </p:nvSpPr>
        <p:spPr>
          <a:xfrm>
            <a:off x="2644140" y="6433617"/>
            <a:ext cx="1529770" cy="21451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B6D0212-14AB-437F-B798-3AE8AB925A95}"/>
              </a:ext>
            </a:extLst>
          </p:cNvPr>
          <p:cNvSpPr txBox="1"/>
          <p:nvPr/>
        </p:nvSpPr>
        <p:spPr>
          <a:xfrm>
            <a:off x="1640066" y="6409165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control: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FB6DD8FD-B270-45B7-8A67-22391CF59064}"/>
              </a:ext>
            </a:extLst>
          </p:cNvPr>
          <p:cNvSpPr/>
          <p:nvPr/>
        </p:nvSpPr>
        <p:spPr>
          <a:xfrm>
            <a:off x="5174455" y="6438988"/>
            <a:ext cx="1669722" cy="22176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ababababbabaaba</a:t>
            </a:r>
            <a:endParaRPr lang="es-ES" sz="120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52A9BDD-991A-4B6B-BFC5-424452BDBA74}"/>
              </a:ext>
            </a:extLst>
          </p:cNvPr>
          <p:cNvSpPr txBox="1"/>
          <p:nvPr/>
        </p:nvSpPr>
        <p:spPr>
          <a:xfrm>
            <a:off x="4299446" y="6410901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Supervisión: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39048668-2C65-4EA3-A386-A059416AA93C}"/>
              </a:ext>
            </a:extLst>
          </p:cNvPr>
          <p:cNvSpPr/>
          <p:nvPr/>
        </p:nvSpPr>
        <p:spPr>
          <a:xfrm>
            <a:off x="3574016" y="6751118"/>
            <a:ext cx="612594" cy="21032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FFFCB9A-B534-461F-8109-23CDBB448A3A}"/>
              </a:ext>
            </a:extLst>
          </p:cNvPr>
          <p:cNvSpPr txBox="1"/>
          <p:nvPr/>
        </p:nvSpPr>
        <p:spPr>
          <a:xfrm>
            <a:off x="1652765" y="6726665"/>
            <a:ext cx="22229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Frecuencia oportuna de control: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4DF625BC-3964-4E9B-A265-FCCBC998E1EE}"/>
              </a:ext>
            </a:extLst>
          </p:cNvPr>
          <p:cNvSpPr txBox="1"/>
          <p:nvPr/>
        </p:nvSpPr>
        <p:spPr>
          <a:xfrm>
            <a:off x="4312146" y="6728401"/>
            <a:ext cx="16043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Seguimiento adecuado:</a:t>
            </a:r>
          </a:p>
        </p:txBody>
      </p:sp>
      <p:pic>
        <p:nvPicPr>
          <p:cNvPr id="82" name="Imagen 81">
            <a:extLst>
              <a:ext uri="{FF2B5EF4-FFF2-40B4-BE49-F238E27FC236}">
                <a16:creationId xmlns:a16="http://schemas.microsoft.com/office/drawing/2014/main" id="{B1784C69-7A6A-4D09-B17F-323D2B9BA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4694" y="2196272"/>
            <a:ext cx="3358680" cy="2330784"/>
          </a:xfrm>
          <a:prstGeom prst="rect">
            <a:avLst/>
          </a:prstGeom>
        </p:spPr>
      </p:pic>
      <p:pic>
        <p:nvPicPr>
          <p:cNvPr id="83" name="Imagen 82">
            <a:extLst>
              <a:ext uri="{FF2B5EF4-FFF2-40B4-BE49-F238E27FC236}">
                <a16:creationId xmlns:a16="http://schemas.microsoft.com/office/drawing/2014/main" id="{DA3F9A2F-2C27-438C-B190-3976DEF677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1549" y="4722014"/>
            <a:ext cx="3345243" cy="2339811"/>
          </a:xfrm>
          <a:prstGeom prst="rect">
            <a:avLst/>
          </a:prstGeom>
        </p:spPr>
      </p:pic>
      <p:sp>
        <p:nvSpPr>
          <p:cNvPr id="84" name="Rectángulo 83">
            <a:extLst>
              <a:ext uri="{FF2B5EF4-FFF2-40B4-BE49-F238E27FC236}">
                <a16:creationId xmlns:a16="http://schemas.microsoft.com/office/drawing/2014/main" id="{CD80F1BD-BCC1-48F4-B3EF-0D69DF354A89}"/>
              </a:ext>
            </a:extLst>
          </p:cNvPr>
          <p:cNvSpPr/>
          <p:nvPr/>
        </p:nvSpPr>
        <p:spPr>
          <a:xfrm>
            <a:off x="1617842" y="7214797"/>
            <a:ext cx="8977823" cy="1065320"/>
          </a:xfrm>
          <a:prstGeom prst="rect">
            <a:avLst/>
          </a:prstGeom>
          <a:solidFill>
            <a:srgbClr val="F3F3F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FA5E2A47-AE2B-473F-BEC8-45EF3D1BBF7D}"/>
              </a:ext>
            </a:extLst>
          </p:cNvPr>
          <p:cNvSpPr/>
          <p:nvPr/>
        </p:nvSpPr>
        <p:spPr>
          <a:xfrm>
            <a:off x="3118622" y="7538691"/>
            <a:ext cx="7122548" cy="28986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C429717-1186-4047-8825-CAD788622FB0}"/>
              </a:ext>
            </a:extLst>
          </p:cNvPr>
          <p:cNvSpPr txBox="1"/>
          <p:nvPr/>
        </p:nvSpPr>
        <p:spPr>
          <a:xfrm>
            <a:off x="1799360" y="7561507"/>
            <a:ext cx="162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 de acción: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55174041-A9BC-4008-826B-D8302B7444E4}"/>
              </a:ext>
            </a:extLst>
          </p:cNvPr>
          <p:cNvSpPr/>
          <p:nvPr/>
        </p:nvSpPr>
        <p:spPr>
          <a:xfrm>
            <a:off x="3118621" y="7933002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E12A460-88FB-401A-BFAC-CC1747C28695}"/>
              </a:ext>
            </a:extLst>
          </p:cNvPr>
          <p:cNvSpPr txBox="1"/>
          <p:nvPr/>
        </p:nvSpPr>
        <p:spPr>
          <a:xfrm>
            <a:off x="1798337" y="7866819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responsable: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63D4407F-808C-461A-8E21-99D4A636476B}"/>
              </a:ext>
            </a:extLst>
          </p:cNvPr>
          <p:cNvSpPr txBox="1"/>
          <p:nvPr/>
        </p:nvSpPr>
        <p:spPr>
          <a:xfrm>
            <a:off x="1798337" y="7272174"/>
            <a:ext cx="33652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TRATAMIENTO E IMPLEMENTACIÓN:</a:t>
            </a:r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A8701193-205A-47BF-931F-09D625F6E5B8}"/>
              </a:ext>
            </a:extLst>
          </p:cNvPr>
          <p:cNvSpPr/>
          <p:nvPr/>
        </p:nvSpPr>
        <p:spPr>
          <a:xfrm>
            <a:off x="5769311" y="7946610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65A9D68D-416C-484F-8A3B-C02C9A4F953F}"/>
              </a:ext>
            </a:extLst>
          </p:cNvPr>
          <p:cNvSpPr txBox="1"/>
          <p:nvPr/>
        </p:nvSpPr>
        <p:spPr>
          <a:xfrm>
            <a:off x="4772015" y="7897742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Fecha de inicio: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08D0AD29-EC0A-4146-8B34-8D2807D12C5D}"/>
              </a:ext>
            </a:extLst>
          </p:cNvPr>
          <p:cNvSpPr/>
          <p:nvPr/>
        </p:nvSpPr>
        <p:spPr>
          <a:xfrm>
            <a:off x="8434557" y="7962400"/>
            <a:ext cx="1490541" cy="19175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B1D6B649-FF66-4BF8-BADF-EB96514901A1}"/>
              </a:ext>
            </a:extLst>
          </p:cNvPr>
          <p:cNvSpPr txBox="1"/>
          <p:nvPr/>
        </p:nvSpPr>
        <p:spPr>
          <a:xfrm>
            <a:off x="7662416" y="7911514"/>
            <a:ext cx="18982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>
                <a:solidFill>
                  <a:schemeClr val="tx1">
                    <a:lumMod val="65000"/>
                    <a:lumOff val="35000"/>
                  </a:schemeClr>
                </a:solidFill>
              </a:rPr>
              <a:t>Fecha fin:</a:t>
            </a:r>
            <a:endParaRPr lang="es-E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34480B66-0066-4144-A21E-97B175D1BF3E}"/>
              </a:ext>
            </a:extLst>
          </p:cNvPr>
          <p:cNvSpPr/>
          <p:nvPr/>
        </p:nvSpPr>
        <p:spPr>
          <a:xfrm>
            <a:off x="1487694" y="8372391"/>
            <a:ext cx="9216611" cy="499730"/>
          </a:xfrm>
          <a:prstGeom prst="rect">
            <a:avLst/>
          </a:prstGeom>
          <a:solidFill>
            <a:srgbClr val="F3F3F3"/>
          </a:solidFill>
          <a:ln>
            <a:solidFill>
              <a:srgbClr val="F3F3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661DDD70-CAAB-4DEA-ABF6-6E3C3E638399}"/>
              </a:ext>
            </a:extLst>
          </p:cNvPr>
          <p:cNvSpPr txBox="1"/>
          <p:nvPr/>
        </p:nvSpPr>
        <p:spPr>
          <a:xfrm>
            <a:off x="1874516" y="8632889"/>
            <a:ext cx="45510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Copyright © 2020 Conoce Capacitación Empresarial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0" name="Picture 2" descr="Conoce Capacitación Empresarial">
            <a:extLst>
              <a:ext uri="{FF2B5EF4-FFF2-40B4-BE49-F238E27FC236}">
                <a16:creationId xmlns:a16="http://schemas.microsoft.com/office/drawing/2014/main" id="{F0CABEC0-12A3-46AA-9C13-35277425A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878" y="8454351"/>
            <a:ext cx="746709" cy="39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CuadroTexto 100">
            <a:extLst>
              <a:ext uri="{FF2B5EF4-FFF2-40B4-BE49-F238E27FC236}">
                <a16:creationId xmlns:a16="http://schemas.microsoft.com/office/drawing/2014/main" id="{9D24023C-9942-49A4-A1BA-9721DE8E0364}"/>
              </a:ext>
            </a:extLst>
          </p:cNvPr>
          <p:cNvSpPr txBox="1"/>
          <p:nvPr/>
        </p:nvSpPr>
        <p:spPr>
          <a:xfrm>
            <a:off x="1586723" y="12058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Resumen del análisis de riesgos</a:t>
            </a:r>
            <a:endParaRPr lang="es-E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8AF2F74E-D293-475C-B000-1B166CCA26DA}"/>
              </a:ext>
            </a:extLst>
          </p:cNvPr>
          <p:cNvSpPr/>
          <p:nvPr/>
        </p:nvSpPr>
        <p:spPr>
          <a:xfrm>
            <a:off x="5860016" y="6776518"/>
            <a:ext cx="612594" cy="210328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>
                <a:solidFill>
                  <a:schemeClr val="tx1">
                    <a:lumMod val="65000"/>
                    <a:lumOff val="35000"/>
                  </a:schemeClr>
                </a:solidFill>
              </a:rPr>
              <a:t>baaba</a:t>
            </a:r>
            <a:endParaRPr lang="es-ES" sz="1200" dirty="0"/>
          </a:p>
        </p:txBody>
      </p: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2A9FBF14-1F77-4F6C-856F-BFCFA9138BB0}"/>
              </a:ext>
            </a:extLst>
          </p:cNvPr>
          <p:cNvGrpSpPr/>
          <p:nvPr/>
        </p:nvGrpSpPr>
        <p:grpSpPr>
          <a:xfrm>
            <a:off x="8203032" y="1552715"/>
            <a:ext cx="2535167" cy="525501"/>
            <a:chOff x="7492506" y="1529384"/>
            <a:chExt cx="2939611" cy="549668"/>
          </a:xfrm>
        </p:grpSpPr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179D5CC9-9743-44ED-B211-8AC46F50D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" r="34821" b="-13882"/>
            <a:stretch/>
          </p:blipFill>
          <p:spPr>
            <a:xfrm>
              <a:off x="7492506" y="1529384"/>
              <a:ext cx="2803292" cy="549668"/>
            </a:xfrm>
            <a:prstGeom prst="rect">
              <a:avLst/>
            </a:prstGeom>
          </p:spPr>
        </p:pic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DF7140FF-64FF-44A0-AAB3-13C581510046}"/>
                </a:ext>
              </a:extLst>
            </p:cNvPr>
            <p:cNvSpPr/>
            <p:nvPr/>
          </p:nvSpPr>
          <p:spPr>
            <a:xfrm>
              <a:off x="9044940" y="1632647"/>
              <a:ext cx="1059180" cy="26161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8" name="Picture 4" descr="Impresora de dibujos animados PNG cliparts descarga gratuita | PNGOcean">
              <a:extLst>
                <a:ext uri="{FF2B5EF4-FFF2-40B4-BE49-F238E27FC236}">
                  <a16:creationId xmlns:a16="http://schemas.microsoft.com/office/drawing/2014/main" id="{DE1BF7ED-CA47-4BEB-8FC4-963FC9492B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2418" y1="16758" x2="56868" y2="21429"/>
                          <a14:foregroundMark x1="56868" y1="21429" x2="62500" y2="25824"/>
                          <a14:foregroundMark x1="62500" y1="25824" x2="63049" y2="35165"/>
                          <a14:foregroundMark x1="17857" y1="39148" x2="19231" y2="47253"/>
                          <a14:foregroundMark x1="19231" y1="47253" x2="21429" y2="51786"/>
                          <a14:foregroundMark x1="78709" y1="39148" x2="78297" y2="51374"/>
                          <a14:foregroundMark x1="37225" y1="80220" x2="46016" y2="80907"/>
                          <a14:foregroundMark x1="37500" y1="84615" x2="40797" y2="85027"/>
                          <a14:foregroundMark x1="42582" y1="85165" x2="45467" y2="85714"/>
                          <a14:foregroundMark x1="48489" y1="84615" x2="50412" y2="84615"/>
                          <a14:foregroundMark x1="53022" y1="84890" x2="55082" y2="84753"/>
                          <a14:foregroundMark x1="58929" y1="85027" x2="60302" y2="85165"/>
                          <a14:foregroundMark x1="63599" y1="84890" x2="64423" y2="84615"/>
                          <a14:foregroundMark x1="65247" y1="82830" x2="64835" y2="84066"/>
                          <a14:backgroundMark x1="37637" y1="13049" x2="37637" y2="13049"/>
                          <a14:backgroundMark x1="42033" y1="13324" x2="42033" y2="13324"/>
                          <a14:backgroundMark x1="50824" y1="13049" x2="50824" y2="13049"/>
                          <a14:backgroundMark x1="29258" y1="15110" x2="29258" y2="15110"/>
                          <a14:backgroundMark x1="29396" y1="17170" x2="29396" y2="17170"/>
                          <a14:backgroundMark x1="28984" y1="19231" x2="28984" y2="19231"/>
                          <a14:backgroundMark x1="58791" y1="13736" x2="58791" y2="13736"/>
                          <a14:backgroundMark x1="76923" y1="35302" x2="76923" y2="35302"/>
                          <a14:backgroundMark x1="77198" y1="35577" x2="77198" y2="35577"/>
                          <a14:backgroundMark x1="46841" y1="13324" x2="46841" y2="13324"/>
                          <a14:backgroundMark x1="82280" y1="37912" x2="82280" y2="37912"/>
                          <a14:backgroundMark x1="82418" y1="39835" x2="82418" y2="39835"/>
                          <a14:backgroundMark x1="19780" y1="35714" x2="19780" y2="35714"/>
                          <a14:backgroundMark x1="15385" y1="35440" x2="15385" y2="35440"/>
                          <a14:backgroundMark x1="12912" y1="37775" x2="12912" y2="37775"/>
                          <a14:backgroundMark x1="43819" y1="85989" x2="43819" y2="85989"/>
                          <a14:backgroundMark x1="46154" y1="86401" x2="46154" y2="86401"/>
                          <a14:backgroundMark x1="45055" y1="85852" x2="45055" y2="858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10" t="12302" r="16704" b="13274"/>
            <a:stretch/>
          </p:blipFill>
          <p:spPr bwMode="auto">
            <a:xfrm>
              <a:off x="8995441" y="1631327"/>
              <a:ext cx="281909" cy="293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BC6A18BE-3D5A-4820-B880-1DFBDE7399F2}"/>
                </a:ext>
              </a:extLst>
            </p:cNvPr>
            <p:cNvSpPr txBox="1"/>
            <p:nvPr/>
          </p:nvSpPr>
          <p:spPr>
            <a:xfrm>
              <a:off x="9241493" y="1594501"/>
              <a:ext cx="1190624" cy="321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solidFill>
                    <a:schemeClr val="bg1"/>
                  </a:solidFill>
                </a:rPr>
                <a:t>Imprimir</a:t>
              </a:r>
            </a:p>
          </p:txBody>
        </p:sp>
      </p:grp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88E21DFE-9C2F-481B-A05F-8CDE43B17591}"/>
              </a:ext>
            </a:extLst>
          </p:cNvPr>
          <p:cNvSpPr txBox="1"/>
          <p:nvPr/>
        </p:nvSpPr>
        <p:spPr>
          <a:xfrm>
            <a:off x="8032901" y="244091"/>
            <a:ext cx="2208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Universal: Marco Paredes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A5A333E9-6D13-41FC-93B6-DDF318B0EB21}"/>
              </a:ext>
            </a:extLst>
          </p:cNvPr>
          <p:cNvSpPr txBox="1"/>
          <p:nvPr/>
        </p:nvSpPr>
        <p:spPr>
          <a:xfrm>
            <a:off x="1859276" y="8432477"/>
            <a:ext cx="5655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</a:rPr>
              <a:t>Calle Las Orquídeas 585, Piso 12 – San Isidro </a:t>
            </a:r>
            <a:r>
              <a:rPr lang="es-ES" sz="10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</a:rPr>
              <a:t>I soporte@conoce.com.pe</a:t>
            </a:r>
            <a:endParaRPr lang="es-E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43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386B36D9-5CED-4F8A-8F41-029FA9E015B2}"/>
              </a:ext>
            </a:extLst>
          </p:cNvPr>
          <p:cNvGrpSpPr/>
          <p:nvPr/>
        </p:nvGrpSpPr>
        <p:grpSpPr>
          <a:xfrm>
            <a:off x="1487694" y="0"/>
            <a:ext cx="9346266" cy="6858000"/>
            <a:chOff x="1487694" y="0"/>
            <a:chExt cx="9346266" cy="6858000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C6A92269-8081-449B-8E9B-1B1DAAB8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7694" y="0"/>
              <a:ext cx="9216611" cy="6858000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39706572-A825-4996-ADC7-E8EB9B01C59B}"/>
                </a:ext>
              </a:extLst>
            </p:cNvPr>
            <p:cNvSpPr/>
            <p:nvPr/>
          </p:nvSpPr>
          <p:spPr>
            <a:xfrm>
              <a:off x="1487694" y="695325"/>
              <a:ext cx="9216611" cy="381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7F12484-8750-47C1-9EC1-E2146BAFA7BE}"/>
                </a:ext>
              </a:extLst>
            </p:cNvPr>
            <p:cNvSpPr/>
            <p:nvPr/>
          </p:nvSpPr>
          <p:spPr>
            <a:xfrm>
              <a:off x="8820150" y="31899"/>
              <a:ext cx="1524000" cy="533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A00961E-7CC8-4DBF-A3B0-5AB88126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1120" y="179071"/>
              <a:ext cx="400050" cy="373380"/>
            </a:xfrm>
            <a:prstGeom prst="rect">
              <a:avLst/>
            </a:prstGeom>
          </p:spPr>
        </p:pic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id="{C55B3C5E-10CB-4323-B101-D462547C615E}"/>
                </a:ext>
              </a:extLst>
            </p:cNvPr>
            <p:cNvSpPr/>
            <p:nvPr/>
          </p:nvSpPr>
          <p:spPr>
            <a:xfrm rot="10800000">
              <a:off x="10344150" y="373380"/>
              <a:ext cx="142874" cy="45719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460BD84-E430-4074-A8B0-57A111AD901B}"/>
                </a:ext>
              </a:extLst>
            </p:cNvPr>
            <p:cNvSpPr txBox="1"/>
            <p:nvPr/>
          </p:nvSpPr>
          <p:spPr>
            <a:xfrm>
              <a:off x="8723105" y="235624"/>
              <a:ext cx="15180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Marco Paredes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2BE3214-C4A9-434D-BE35-C3DF5DA67AA9}"/>
                </a:ext>
              </a:extLst>
            </p:cNvPr>
            <p:cNvSpPr/>
            <p:nvPr/>
          </p:nvSpPr>
          <p:spPr>
            <a:xfrm>
              <a:off x="1643063" y="1156179"/>
              <a:ext cx="8843961" cy="54555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º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9D7EEA01-E9AB-4443-A99B-68BF28E81879}"/>
                </a:ext>
              </a:extLst>
            </p:cNvPr>
            <p:cNvSpPr/>
            <p:nvPr/>
          </p:nvSpPr>
          <p:spPr>
            <a:xfrm>
              <a:off x="1487694" y="6337004"/>
              <a:ext cx="9216611" cy="499730"/>
            </a:xfrm>
            <a:prstGeom prst="rect">
              <a:avLst/>
            </a:prstGeom>
            <a:solidFill>
              <a:srgbClr val="F3F3F3"/>
            </a:solidFill>
            <a:ln>
              <a:solidFill>
                <a:srgbClr val="F3F3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20B380C-0547-4A31-9119-B857FDA77F26}"/>
                </a:ext>
              </a:extLst>
            </p:cNvPr>
            <p:cNvSpPr txBox="1"/>
            <p:nvPr/>
          </p:nvSpPr>
          <p:spPr>
            <a:xfrm>
              <a:off x="1860344" y="6423836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Calle las begonias 415 – Piso 11, San Isidro I capacitaciones@conoce.com.pe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72AE607-F8E3-484E-9F9E-636C7A19A955}"/>
                </a:ext>
              </a:extLst>
            </p:cNvPr>
            <p:cNvSpPr txBox="1"/>
            <p:nvPr/>
          </p:nvSpPr>
          <p:spPr>
            <a:xfrm>
              <a:off x="1874516" y="6597502"/>
              <a:ext cx="4551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Open Sans"/>
                </a:rPr>
                <a:t>Copyright © 2020 Conoce Capacitación Empresarial</a:t>
              </a:r>
              <a:endParaRPr lang="es-ES" sz="10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2238B63B-9AA6-4F5A-B87C-C9D07CD45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9086" y="20732"/>
              <a:ext cx="2480015" cy="649335"/>
            </a:xfrm>
            <a:prstGeom prst="rect">
              <a:avLst/>
            </a:prstGeom>
          </p:spPr>
        </p:pic>
        <p:pic>
          <p:nvPicPr>
            <p:cNvPr id="16" name="Picture 2" descr="Conoce Capacitación Empresarial">
              <a:extLst>
                <a:ext uri="{FF2B5EF4-FFF2-40B4-BE49-F238E27FC236}">
                  <a16:creationId xmlns:a16="http://schemas.microsoft.com/office/drawing/2014/main" id="{B616E880-648C-4BE6-B5A6-ECE65D950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68878" y="6418964"/>
              <a:ext cx="746709" cy="3919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40999C0E-00CE-4586-B8F0-781BE7361BEB}"/>
                </a:ext>
              </a:extLst>
            </p:cNvPr>
            <p:cNvSpPr txBox="1"/>
            <p:nvPr/>
          </p:nvSpPr>
          <p:spPr>
            <a:xfrm>
              <a:off x="1736381" y="74703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Página principal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1467D6A0-865C-4386-84A2-0D1F9BEFFFAF}"/>
                </a:ext>
              </a:extLst>
            </p:cNvPr>
            <p:cNvSpPr txBox="1"/>
            <p:nvPr/>
          </p:nvSpPr>
          <p:spPr>
            <a:xfrm>
              <a:off x="2909244" y="750052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Matriz de riesgo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46E6E40-46BC-40D8-90FE-B1091AE953DA}"/>
                </a:ext>
              </a:extLst>
            </p:cNvPr>
            <p:cNvSpPr txBox="1"/>
            <p:nvPr/>
          </p:nvSpPr>
          <p:spPr>
            <a:xfrm>
              <a:off x="4057578" y="753696"/>
              <a:ext cx="141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Scoring de riesgo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93A627B-7D2C-4D82-B6E2-42A9FD870BE0}"/>
                </a:ext>
              </a:extLst>
            </p:cNvPr>
            <p:cNvSpPr txBox="1"/>
            <p:nvPr/>
          </p:nvSpPr>
          <p:spPr>
            <a:xfrm>
              <a:off x="5272419" y="747204"/>
              <a:ext cx="1687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Registro de operaciones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0795A6FE-E89E-459A-88D1-9655E9A38C71}"/>
                </a:ext>
              </a:extLst>
            </p:cNvPr>
            <p:cNvSpPr txBox="1"/>
            <p:nvPr/>
          </p:nvSpPr>
          <p:spPr>
            <a:xfrm>
              <a:off x="6979014" y="748857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Consulta de listas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955D8E9-8C69-4E67-BAFA-0AF0AD9A95A6}"/>
                </a:ext>
              </a:extLst>
            </p:cNvPr>
            <p:cNvSpPr txBox="1"/>
            <p:nvPr/>
          </p:nvSpPr>
          <p:spPr>
            <a:xfrm>
              <a:off x="8203032" y="75141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Canal de denuncia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50C8C487-9FE2-42AE-A554-D1AAD63726F7}"/>
                </a:ext>
              </a:extLst>
            </p:cNvPr>
            <p:cNvSpPr txBox="1"/>
            <p:nvPr/>
          </p:nvSpPr>
          <p:spPr>
            <a:xfrm>
              <a:off x="9451720" y="749390"/>
              <a:ext cx="1382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chemeClr val="bg1"/>
                  </a:solidFill>
                </a:rPr>
                <a:t>Mis cursos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457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934</Words>
  <Application>Microsoft Macintosh PowerPoint</Application>
  <PresentationFormat>Panorámica</PresentationFormat>
  <Paragraphs>200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Open Sans</vt:lpstr>
      <vt:lpstr>Tahoma Negreta</vt:lpstr>
      <vt:lpstr>Ubuntu</vt:lpstr>
      <vt:lpstr>Tema de Office</vt:lpstr>
      <vt:lpstr>Presentación de PowerPoint</vt:lpstr>
      <vt:lpstr>Presentación de PowerPoint</vt:lpstr>
      <vt:lpstr>Presentación de PowerPoint</vt:lpstr>
      <vt:lpstr>Plantilla de las presentaciones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Erika Diaz</dc:creator>
  <cp:lastModifiedBy>Microsoft Office User</cp:lastModifiedBy>
  <cp:revision>56</cp:revision>
  <dcterms:created xsi:type="dcterms:W3CDTF">2020-09-19T16:08:44Z</dcterms:created>
  <dcterms:modified xsi:type="dcterms:W3CDTF">2020-09-25T13:36:29Z</dcterms:modified>
</cp:coreProperties>
</file>